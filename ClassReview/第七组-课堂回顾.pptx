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0" r:id="rId17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24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老师、同学们好。我们组负责第 4 章进程同步的课堂回顾，按布鲁姆模型的六个层次来讲，每个层次两页，大概五分钟。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顺序是从记忆到创新。前面两页先把概念和结论摆出来，后面讲为什么、怎么用、哪里会出问题，最后说说我们做实验和看分布式算法的一些体会。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这一章的结构是这样的：先讲临界区和四条准则，再讲四种机制，然后是三个经典问题，最后落到 Linux 的实现。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这六个概念要能直接说出来。特别是 PV 的含义，S 小于零的时候，绝对值才是等待的进程数。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count++ 在机器上分三步：读、加一、写回。两个进程交错的时候可能都读到 5，后写的把先写的覆盖了，结果就少加一次。所以并发程序的结果和调度顺序有关。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记录型信号量在 value 减到负数时，把进程放进等待队列，signal 的时候再唤醒一个。这样进程不用一直占用 CPU 空转，也就是老师讲的让权等待。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生产者-消费者用三个信号量：empty 数空位，full 数产品，mutex 管互斥。顺序是先等资源再拿锁，反过来写会死锁。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哲学家问题是 5 个人同时拿左筷会卡住，改法有两种：一次申请两支，或者交给管程判断。读者-写者是用 readcount 看谁是第一个、最后一个读者。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死锁要三个条件凑齐：有人拿着资源、有人在等、等待关系连成环。哲学家同时拿起左筷就是这样一个环。饥饿不一样，只是一个进程长期排不上队。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四种机制各有适用范围：软件方法适合理解原理，硬件指令适合很短的临界区，信号量和管程是现在写程序常用的。它们是先后出现的，不是互相替代。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按四条准则打分，记录型信号量和管程四条都满足，所以实际系统里用得最多。整型信号量的有限等待要看调度，所以这里标的是看情况。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Linux 里按等待时间选：改一个变量用原子操作，等得短用自旋锁，等得久用互斥锁，资源有多份用信号量。鸿蒙的 IPC 也是同一套思路，只是名字不同。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分布式的难点是没有共享内存、没有统一时钟，消息还可能延迟。课件里提到 Lamport、Ricart-Agrawala 和 Maekawa 三个算法，解法不一样，目标都是保证同一时刻只有一个节点进入临界区。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最后小结一下，留了三个问题大家可以想一想。我们组讲完了，谢谢。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s-ch4-sync-review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altLang="en-US" smtClean="0"/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altLang="en-US" smtClean="0"/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lang="zh-CN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7" Type="http://schemas.openxmlformats.org/officeDocument/2006/relationships/notesSlide" Target="../notesSlides/notesSlide2.xml"/><Relationship Id="rId26" Type="http://schemas.openxmlformats.org/officeDocument/2006/relationships/slideLayout" Target="../slideLayouts/slideLayout1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334E"/>
            </a:gs>
            <a:gs pos="100000">
              <a:srgbClr val="0A1724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cover-head"/>
          <p:cNvGrpSpPr/>
          <p:nvPr/>
        </p:nvGrpSpPr>
        <p:grpSpPr>
          <a:xfrm>
            <a:off x="889000" y="977265"/>
            <a:ext cx="3657600" cy="2228687"/>
            <a:chOff x="666750" y="1879600"/>
            <a:chExt cx="3657600" cy="1932865"/>
          </a:xfrm>
        </p:grpSpPr>
        <p:sp>
          <p:nvSpPr>
            <p:cNvPr id="2" name="TextBox 2"/>
            <p:cNvSpPr txBox="1"/>
            <p:nvPr/>
          </p:nvSpPr>
          <p:spPr>
            <a:xfrm>
              <a:off x="680085" y="1879600"/>
              <a:ext cx="3040858" cy="14869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1120" spc="150" dirty="0">
                  <a:solidFill>
                    <a:srgbClr val="7FA6C9"/>
                  </a:solidFill>
                  <a:latin typeface="+mj-lt"/>
                  <a:ea typeface="+mj-ea"/>
                  <a:cs typeface="+mj-cs"/>
                </a:rPr>
                <a:t>OPERATING SYSTEMS · MODULE 3</a:t>
              </a:r>
              <a:endParaRPr lang="en-US" sz="1120" spc="150" dirty="0">
                <a:solidFill>
                  <a:srgbClr val="7FA6C9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6750" y="2355850"/>
              <a:ext cx="3657600" cy="9604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7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进程同步</a:t>
              </a:r>
              <a:endParaRPr lang="zh-CN" sz="7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5894" y="3492500"/>
              <a:ext cx="3409950" cy="3199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C9D6E3"/>
                  </a:solidFill>
                  <a:latin typeface="+mn-lt"/>
                  <a:ea typeface="+mn-ea"/>
                  <a:cs typeface="+mn-cs"/>
                </a:rPr>
                <a:t>第 4 章课堂回顾 · 第 </a:t>
              </a:r>
              <a:r>
                <a:rPr lang="en-US" altLang="zh-CN" sz="2400" dirty="0">
                  <a:solidFill>
                    <a:srgbClr val="C9D6E3"/>
                  </a:solidFill>
                  <a:latin typeface="+mn-lt"/>
                  <a:ea typeface="+mn-ea"/>
                  <a:cs typeface="+mn-cs"/>
                </a:rPr>
                <a:t>7</a:t>
              </a:r>
              <a:r>
                <a:rPr lang="zh-CN" sz="2400" dirty="0">
                  <a:solidFill>
                    <a:srgbClr val="C9D6E3"/>
                  </a:solidFill>
                  <a:latin typeface="+mn-lt"/>
                  <a:ea typeface="+mn-ea"/>
                  <a:cs typeface="+mn-cs"/>
                </a:rPr>
                <a:t> 组</a:t>
              </a:r>
              <a:endParaRPr lang="zh-CN" sz="2400" dirty="0">
                <a:solidFill>
                  <a:srgbClr val="C9D6E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" name="cover-rule"/>
          <p:cNvGrpSpPr/>
          <p:nvPr/>
        </p:nvGrpSpPr>
        <p:grpSpPr>
          <a:xfrm>
            <a:off x="889000" y="3657600"/>
            <a:ext cx="3619500" cy="38100"/>
            <a:chOff x="685800" y="4095750"/>
            <a:chExt cx="3619500" cy="38100"/>
          </a:xfrm>
        </p:grpSpPr>
        <p:sp>
          <p:nvSpPr>
            <p:cNvPr id="6" name="Rectangle 6"/>
            <p:cNvSpPr/>
            <p:nvPr/>
          </p:nvSpPr>
          <p:spPr>
            <a:xfrm>
              <a:off x="685800" y="4095750"/>
              <a:ext cx="3619500" cy="38100"/>
            </a:xfrm>
            <a:prstGeom prst="rect">
              <a:avLst/>
            </a:prstGeom>
            <a:solidFill>
              <a:srgbClr val="C9A227"/>
            </a:solidFill>
            <a:ln>
              <a:noFill/>
            </a:ln>
          </p:spPr>
        </p:sp>
      </p:grpSp>
      <p:grpSp>
        <p:nvGrpSpPr>
          <p:cNvPr id="10" name="cover-meta"/>
          <p:cNvGrpSpPr/>
          <p:nvPr/>
        </p:nvGrpSpPr>
        <p:grpSpPr>
          <a:xfrm>
            <a:off x="902589" y="3955415"/>
            <a:ext cx="4076700" cy="657225"/>
            <a:chOff x="902589" y="3955415"/>
            <a:chExt cx="4076700" cy="657225"/>
          </a:xfrm>
        </p:grpSpPr>
        <p:sp>
          <p:nvSpPr>
            <p:cNvPr id="8" name="TextBox 8"/>
            <p:cNvSpPr txBox="1"/>
            <p:nvPr/>
          </p:nvSpPr>
          <p:spPr>
            <a:xfrm>
              <a:off x="902589" y="3955415"/>
              <a:ext cx="4076700" cy="318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dirty="0">
                  <a:solidFill>
                    <a:srgbClr val="9FB4C7"/>
                  </a:solidFill>
                  <a:latin typeface="+mn-lt"/>
                  <a:ea typeface="+mn-ea"/>
                  <a:cs typeface="+mn-cs"/>
                </a:rPr>
                <a:t>4.1 进程同步概念 → 4.7 Linux 同步机制</a:t>
              </a:r>
              <a:endParaRPr lang="zh-CN" dirty="0">
                <a:solidFill>
                  <a:srgbClr val="9FB4C7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9701" y="4366895"/>
              <a:ext cx="3598545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dirty="0">
                  <a:solidFill>
                    <a:srgbClr val="6F8AA3"/>
                  </a:solidFill>
                  <a:latin typeface="+mn-lt"/>
                  <a:ea typeface="+mn-ea"/>
                  <a:cs typeface="+mn-cs"/>
                </a:rPr>
                <a:t>2026-10-2</a:t>
              </a:r>
              <a:r>
                <a:rPr lang="en-US" altLang="zh-CN" sz="1600" dirty="0">
                  <a:solidFill>
                    <a:srgbClr val="6F8AA3"/>
                  </a:solidFill>
                  <a:latin typeface="+mn-lt"/>
                  <a:ea typeface="+mn-ea"/>
                  <a:cs typeface="+mn-cs"/>
                </a:rPr>
                <a:t>1</a:t>
              </a:r>
              <a:r>
                <a:rPr lang="zh-CN" sz="1600" dirty="0">
                  <a:solidFill>
                    <a:srgbClr val="6F8AA3"/>
                  </a:solidFill>
                  <a:latin typeface="+mn-lt"/>
                  <a:ea typeface="+mn-ea"/>
                  <a:cs typeface="+mn-cs"/>
                </a:rPr>
                <a:t> · 第 3 模块 · 主讲： 袁浩哲</a:t>
              </a:r>
              <a:endParaRPr lang="zh-CN" sz="1600" dirty="0">
                <a:solidFill>
                  <a:srgbClr val="6F8AA3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7239635" y="3955415"/>
            <a:ext cx="3542665" cy="2308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 anchorCtr="0">
            <a:noAutofit/>
          </a:bodyPr>
          <a:lstStyle/>
          <a:p>
            <a:pPr lvl="0" indent="0" algn="l" fontAlgn="auto">
              <a:lnSpc>
                <a:spcPct val="150000"/>
              </a:lnSpc>
              <a:buClrTx/>
              <a:buSzTx/>
              <a:buFontTx/>
            </a:pPr>
            <a:r>
              <a:rPr sz="2000" b="1" dirty="0">
                <a:solidFill>
                  <a:srgbClr val="C9D6E3"/>
                </a:solidFill>
                <a:sym typeface="+mn-ea"/>
              </a:rPr>
              <a:t>分工：</a:t>
            </a:r>
            <a:endParaRPr sz="2000" b="1" dirty="0">
              <a:solidFill>
                <a:srgbClr val="C9D6E3"/>
              </a:solidFill>
              <a:sym typeface="+mn-ea"/>
            </a:endParaRPr>
          </a:p>
          <a:p>
            <a:pPr lvl="0" indent="457200" algn="l" fontAlgn="auto">
              <a:lnSpc>
                <a:spcPct val="150000"/>
              </a:lnSpc>
              <a:buClrTx/>
              <a:buSzTx/>
              <a:buFontTx/>
            </a:pPr>
            <a:r>
              <a:rPr dirty="0">
                <a:solidFill>
                  <a:srgbClr val="C9D6E3"/>
                </a:solidFill>
                <a:sym typeface="+mn-ea"/>
              </a:rPr>
              <a:t>袁浩哲</a:t>
            </a:r>
            <a:r>
              <a:rPr dirty="0">
                <a:solidFill>
                  <a:srgbClr val="C9D6E3"/>
                </a:solidFill>
                <a:sym typeface="+mn-ea"/>
              </a:rPr>
              <a:t>：主讲</a:t>
            </a:r>
            <a:br>
              <a:rPr dirty="0">
                <a:solidFill>
                  <a:srgbClr val="C9D6E3"/>
                </a:solidFill>
                <a:sym typeface="+mn-ea"/>
              </a:rPr>
            </a:br>
            <a:r>
              <a:rPr lang="en-US" altLang="zh-CN" dirty="0">
                <a:solidFill>
                  <a:srgbClr val="C9D6E3"/>
                </a:solidFill>
                <a:sym typeface="+mn-ea"/>
              </a:rPr>
              <a:t>	</a:t>
            </a:r>
            <a:r>
              <a:rPr dirty="0">
                <a:solidFill>
                  <a:srgbClr val="C9D6E3"/>
                </a:solidFill>
                <a:sym typeface="+mn-ea"/>
              </a:rPr>
              <a:t>常一豪：</a:t>
            </a:r>
            <a:r>
              <a:rPr dirty="0">
                <a:solidFill>
                  <a:srgbClr val="C9D6E3"/>
                </a:solidFill>
                <a:sym typeface="+mn-ea"/>
              </a:rPr>
              <a:t>演讲稿</a:t>
            </a:r>
            <a:endParaRPr dirty="0">
              <a:solidFill>
                <a:srgbClr val="C9D6E3"/>
              </a:solidFill>
              <a:sym typeface="+mn-ea"/>
            </a:endParaRPr>
          </a:p>
          <a:p>
            <a:pPr lvl="0" indent="457200" algn="l" fontAlgn="auto">
              <a:lnSpc>
                <a:spcPct val="150000"/>
              </a:lnSpc>
              <a:buClrTx/>
              <a:buSzTx/>
              <a:buFontTx/>
            </a:pPr>
            <a:r>
              <a:rPr dirty="0">
                <a:solidFill>
                  <a:srgbClr val="C9D6E3"/>
                </a:solidFill>
                <a:sym typeface="+mn-ea"/>
              </a:rPr>
              <a:t>高翔：</a:t>
            </a:r>
            <a:r>
              <a:rPr lang="en-US" altLang="zh-CN" dirty="0">
                <a:solidFill>
                  <a:srgbClr val="C9D6E3"/>
                </a:solidFill>
                <a:sym typeface="+mn-ea"/>
              </a:rPr>
              <a:t>PPT</a:t>
            </a:r>
            <a:endParaRPr dirty="0">
              <a:solidFill>
                <a:srgbClr val="C9D6E3"/>
              </a:solidFill>
              <a:sym typeface="+mn-ea"/>
            </a:endParaRPr>
          </a:p>
          <a:p>
            <a:pPr lvl="0" indent="457200" algn="l" fontAlgn="auto">
              <a:lnSpc>
                <a:spcPct val="150000"/>
              </a:lnSpc>
              <a:buClrTx/>
              <a:buSzTx/>
              <a:buFontTx/>
            </a:pPr>
            <a:r>
              <a:rPr dirty="0">
                <a:solidFill>
                  <a:srgbClr val="C9D6E3"/>
                </a:solidFill>
                <a:sym typeface="+mn-ea"/>
              </a:rPr>
              <a:t>徐钰东：</a:t>
            </a:r>
            <a:r>
              <a:rPr lang="en-US" altLang="zh-CN" dirty="0">
                <a:solidFill>
                  <a:srgbClr val="C9D6E3"/>
                </a:solidFill>
                <a:sym typeface="+mn-ea"/>
              </a:rPr>
              <a:t>PPT</a:t>
            </a:r>
            <a:endParaRPr lang="en-US" altLang="zh-CN" dirty="0">
              <a:solidFill>
                <a:srgbClr val="C9D6E3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72084" y="704850"/>
            <a:ext cx="10834116" cy="866775"/>
            <a:chOff x="672084" y="704850"/>
            <a:chExt cx="10834116" cy="866775"/>
          </a:xfrm>
        </p:grpSpPr>
        <p:sp>
          <p:nvSpPr>
            <p:cNvPr id="2" name="TextBox 2"/>
            <p:cNvSpPr txBox="1"/>
            <p:nvPr/>
          </p:nvSpPr>
          <p:spPr>
            <a:xfrm>
              <a:off x="680847" y="704850"/>
              <a:ext cx="174117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12" dirty="0">
                  <a:solidFill>
                    <a:srgbClr val="1D4E7C"/>
                  </a:solidFill>
                  <a:latin typeface="+mj-lt"/>
                  <a:ea typeface="+mj-ea"/>
                  <a:cs typeface="+mj-cs"/>
                </a:rPr>
                <a:t>OVERVIEW / 回顾顺序</a:t>
              </a:r>
              <a:endParaRPr lang="zh-CN" sz="1200" spc="112" dirty="0">
                <a:solidFill>
                  <a:srgbClr val="1D4E7C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1003300"/>
              <a:ext cx="2844800" cy="492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200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从六个层次出发</a:t>
              </a:r>
              <a:endParaRPr lang="zh-CN" sz="3200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5621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BD6E0"/>
              </a:solidFill>
            </a:ln>
          </p:spPr>
        </p:sp>
      </p:grpSp>
      <p:grpSp>
        <p:nvGrpSpPr>
          <p:cNvPr id="30" name="ladder"/>
          <p:cNvGrpSpPr/>
          <p:nvPr>
            <p:custDataLst>
              <p:tags r:id="rId1"/>
            </p:custDataLst>
          </p:nvPr>
        </p:nvGrpSpPr>
        <p:grpSpPr>
          <a:xfrm>
            <a:off x="685800" y="2857500"/>
            <a:ext cx="10668000" cy="1546225"/>
            <a:chOff x="685800" y="2857500"/>
            <a:chExt cx="10668000" cy="1095887"/>
          </a:xfrm>
        </p:grpSpPr>
        <p:sp>
          <p:nvSpPr>
            <p:cNvPr id="6" name="Freeform 6"/>
            <p:cNvSpPr/>
            <p:nvPr>
              <p:custDataLst>
                <p:tags r:id="rId2"/>
              </p:custDataLst>
            </p:nvPr>
          </p:nvSpPr>
          <p:spPr>
            <a:xfrm>
              <a:off x="685800" y="2857500"/>
              <a:ext cx="1714500" cy="609600"/>
            </a:xfrm>
            <a:prstGeom prst="chevron">
              <a:avLst/>
            </a:prstGeom>
            <a:solidFill>
              <a:srgbClr val="16364F"/>
            </a:solidFill>
            <a:ln>
              <a:noFill/>
            </a:ln>
          </p:spPr>
        </p:sp>
        <p:sp>
          <p:nvSpPr>
            <p:cNvPr id="7" name="Freeform 7"/>
            <p:cNvSpPr/>
            <p:nvPr>
              <p:custDataLst>
                <p:tags r:id="rId3"/>
              </p:custDataLst>
            </p:nvPr>
          </p:nvSpPr>
          <p:spPr>
            <a:xfrm>
              <a:off x="2476500" y="2857500"/>
              <a:ext cx="1714500" cy="609600"/>
            </a:xfrm>
            <a:prstGeom prst="chevron">
              <a:avLst/>
            </a:prstGeom>
            <a:solidFill>
              <a:srgbClr val="1A4262"/>
            </a:solidFill>
            <a:ln>
              <a:noFill/>
            </a:ln>
          </p:spPr>
        </p:sp>
        <p:sp>
          <p:nvSpPr>
            <p:cNvPr id="8" name="Freeform 8"/>
            <p:cNvSpPr/>
            <p:nvPr>
              <p:custDataLst>
                <p:tags r:id="rId4"/>
              </p:custDataLst>
            </p:nvPr>
          </p:nvSpPr>
          <p:spPr>
            <a:xfrm>
              <a:off x="4267200" y="2857500"/>
              <a:ext cx="1714500" cy="609600"/>
            </a:xfrm>
            <a:prstGeom prst="chevron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9" name="Freeform 9"/>
            <p:cNvSpPr/>
            <p:nvPr>
              <p:custDataLst>
                <p:tags r:id="rId5"/>
              </p:custDataLst>
            </p:nvPr>
          </p:nvSpPr>
          <p:spPr>
            <a:xfrm>
              <a:off x="6057900" y="2857500"/>
              <a:ext cx="1714500" cy="609600"/>
            </a:xfrm>
            <a:prstGeom prst="chevron">
              <a:avLst/>
            </a:prstGeom>
            <a:solidFill>
              <a:srgbClr val="27608F"/>
            </a:solidFill>
            <a:ln>
              <a:noFill/>
            </a:ln>
          </p:spPr>
        </p:sp>
        <p:sp>
          <p:nvSpPr>
            <p:cNvPr id="10" name="Freeform 10"/>
            <p:cNvSpPr/>
            <p:nvPr>
              <p:custDataLst>
                <p:tags r:id="rId6"/>
              </p:custDataLst>
            </p:nvPr>
          </p:nvSpPr>
          <p:spPr>
            <a:xfrm>
              <a:off x="7848600" y="2857500"/>
              <a:ext cx="1714500" cy="609600"/>
            </a:xfrm>
            <a:prstGeom prst="chevron">
              <a:avLst/>
            </a:prstGeom>
            <a:solidFill>
              <a:srgbClr val="2F72A6"/>
            </a:solidFill>
            <a:ln>
              <a:noFill/>
            </a:ln>
          </p:spPr>
        </p:sp>
        <p:sp>
          <p:nvSpPr>
            <p:cNvPr id="11" name="Freeform 11"/>
            <p:cNvSpPr/>
            <p:nvPr>
              <p:custDataLst>
                <p:tags r:id="rId7"/>
              </p:custDataLst>
            </p:nvPr>
          </p:nvSpPr>
          <p:spPr>
            <a:xfrm>
              <a:off x="9639300" y="2857500"/>
              <a:ext cx="1714500" cy="609600"/>
            </a:xfrm>
            <a:prstGeom prst="chevron">
              <a:avLst/>
            </a:prstGeom>
            <a:solidFill>
              <a:srgbClr val="C9A227"/>
            </a:solidFill>
            <a:ln>
              <a:noFill/>
            </a:ln>
          </p:spPr>
        </p:sp>
        <p:sp>
          <p:nvSpPr>
            <p:cNvPr id="12" name="TextBox 12"/>
            <p:cNvSpPr txBox="1"/>
            <p:nvPr>
              <p:custDataLst>
                <p:tags r:id="rId8"/>
              </p:custDataLst>
            </p:nvPr>
          </p:nvSpPr>
          <p:spPr>
            <a:xfrm>
              <a:off x="1231900" y="3038423"/>
              <a:ext cx="669925" cy="1962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记忆</a:t>
              </a:r>
              <a:endParaRPr lang="zh-CN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>
              <p:custDataLst>
                <p:tags r:id="rId9"/>
              </p:custDataLst>
            </p:nvPr>
          </p:nvSpPr>
          <p:spPr>
            <a:xfrm>
              <a:off x="3112770" y="3038423"/>
              <a:ext cx="571500" cy="1962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理解</a:t>
              </a:r>
              <a:endParaRPr lang="zh-CN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>
              <p:custDataLst>
                <p:tags r:id="rId10"/>
              </p:custDataLst>
            </p:nvPr>
          </p:nvSpPr>
          <p:spPr>
            <a:xfrm>
              <a:off x="4903470" y="3038423"/>
              <a:ext cx="578485" cy="1962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应用</a:t>
              </a:r>
              <a:endParaRPr lang="zh-CN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>
              <p:custDataLst>
                <p:tags r:id="rId11"/>
              </p:custDataLst>
            </p:nvPr>
          </p:nvSpPr>
          <p:spPr>
            <a:xfrm>
              <a:off x="6694170" y="3038423"/>
              <a:ext cx="553085" cy="1962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分析</a:t>
              </a:r>
              <a:endParaRPr lang="zh-CN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>
              <p:custDataLst>
                <p:tags r:id="rId12"/>
              </p:custDataLst>
            </p:nvPr>
          </p:nvSpPr>
          <p:spPr>
            <a:xfrm>
              <a:off x="8484870" y="3038423"/>
              <a:ext cx="594360" cy="1962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评估</a:t>
              </a:r>
              <a:endParaRPr lang="zh-CN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>
              <p:custDataLst>
                <p:tags r:id="rId13"/>
              </p:custDataLst>
            </p:nvPr>
          </p:nvSpPr>
          <p:spPr>
            <a:xfrm>
              <a:off x="10275570" y="3038423"/>
              <a:ext cx="490855" cy="1962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创新</a:t>
              </a:r>
              <a:endParaRPr lang="zh-CN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>
              <p:custDataLst>
                <p:tags r:id="rId14"/>
              </p:custDataLst>
            </p:nvPr>
          </p:nvSpPr>
          <p:spPr>
            <a:xfrm>
              <a:off x="920115" y="3587941"/>
              <a:ext cx="981710" cy="15256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400" dirty="0">
                  <a:solidFill>
                    <a:srgbClr val="33475B"/>
                  </a:solidFill>
                  <a:latin typeface="+mn-lt"/>
                  <a:ea typeface="+mn-ea"/>
                  <a:cs typeface="+mn-cs"/>
                </a:rPr>
                <a:t>概念是什么</a:t>
              </a:r>
              <a:endParaRPr lang="zh-CN" sz="1400" dirty="0">
                <a:solidFill>
                  <a:srgbClr val="33475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>
              <p:custDataLst>
                <p:tags r:id="rId15"/>
              </p:custDataLst>
            </p:nvPr>
          </p:nvSpPr>
          <p:spPr>
            <a:xfrm>
              <a:off x="2708910" y="3587941"/>
              <a:ext cx="983615" cy="15256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400" dirty="0">
                  <a:solidFill>
                    <a:srgbClr val="33475B"/>
                  </a:solidFill>
                  <a:latin typeface="+mn-lt"/>
                  <a:ea typeface="+mn-ea"/>
                  <a:cs typeface="+mn-cs"/>
                </a:rPr>
                <a:t>为什么需要</a:t>
              </a:r>
              <a:endParaRPr lang="zh-CN" sz="1400" dirty="0">
                <a:solidFill>
                  <a:srgbClr val="33475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>
              <p:custDataLst>
                <p:tags r:id="rId16"/>
              </p:custDataLst>
            </p:nvPr>
          </p:nvSpPr>
          <p:spPr>
            <a:xfrm>
              <a:off x="4382135" y="3587941"/>
              <a:ext cx="1101090" cy="15256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400" dirty="0">
                  <a:solidFill>
                    <a:srgbClr val="33475B"/>
                  </a:solidFill>
                  <a:latin typeface="+mn-lt"/>
                  <a:ea typeface="+mn-ea"/>
                  <a:cs typeface="+mn-cs"/>
                </a:rPr>
                <a:t>怎么写代码</a:t>
              </a:r>
              <a:endParaRPr lang="zh-CN" sz="1050" dirty="0">
                <a:solidFill>
                  <a:srgbClr val="33475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>
              <p:custDataLst>
                <p:tags r:id="rId17"/>
              </p:custDataLst>
            </p:nvPr>
          </p:nvSpPr>
          <p:spPr>
            <a:xfrm>
              <a:off x="6172835" y="3587941"/>
              <a:ext cx="1171575" cy="15256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400" dirty="0">
                  <a:solidFill>
                    <a:srgbClr val="33475B"/>
                  </a:solidFill>
                  <a:latin typeface="+mn-lt"/>
                  <a:ea typeface="+mn-ea"/>
                  <a:cs typeface="+mn-cs"/>
                </a:rPr>
                <a:t>哪里会出问题</a:t>
              </a:r>
              <a:endParaRPr lang="zh-CN" sz="1050" dirty="0">
                <a:solidFill>
                  <a:srgbClr val="33475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>
              <p:custDataLst>
                <p:tags r:id="rId18"/>
              </p:custDataLst>
            </p:nvPr>
          </p:nvSpPr>
          <p:spPr>
            <a:xfrm>
              <a:off x="8118475" y="3587941"/>
              <a:ext cx="946150" cy="15256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400" dirty="0">
                  <a:solidFill>
                    <a:srgbClr val="33475B"/>
                  </a:solidFill>
                  <a:latin typeface="+mn-lt"/>
                  <a:ea typeface="+mn-ea"/>
                  <a:cs typeface="+mn-cs"/>
                </a:rPr>
                <a:t>怎么选方案</a:t>
              </a:r>
              <a:endParaRPr lang="zh-CN" sz="1050" dirty="0">
                <a:solidFill>
                  <a:srgbClr val="33475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>
              <p:custDataLst>
                <p:tags r:id="rId19"/>
              </p:custDataLst>
            </p:nvPr>
          </p:nvSpPr>
          <p:spPr>
            <a:xfrm>
              <a:off x="9915525" y="3587941"/>
              <a:ext cx="939800" cy="15256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400" dirty="0">
                  <a:solidFill>
                    <a:srgbClr val="33475B"/>
                  </a:solidFill>
                  <a:latin typeface="+mn-lt"/>
                  <a:ea typeface="+mn-ea"/>
                  <a:cs typeface="+mn-cs"/>
                </a:rPr>
                <a:t>还能用在哪</a:t>
              </a:r>
              <a:endParaRPr lang="zh-CN" sz="1050" dirty="0">
                <a:solidFill>
                  <a:srgbClr val="33475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>
              <p:custDataLst>
                <p:tags r:id="rId20"/>
              </p:custDataLst>
            </p:nvPr>
          </p:nvSpPr>
          <p:spPr>
            <a:xfrm>
              <a:off x="1192530" y="3822871"/>
              <a:ext cx="547370" cy="1305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8A9BAB"/>
                  </a:solidFill>
                  <a:latin typeface="+mj-lt"/>
                  <a:ea typeface="+mj-ea"/>
                  <a:cs typeface="+mj-cs"/>
                </a:rPr>
                <a:t>P03–04</a:t>
              </a:r>
              <a:endParaRPr lang="en-US" sz="1200" dirty="0">
                <a:solidFill>
                  <a:srgbClr val="8A9BAB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5" name="TextBox 25"/>
            <p:cNvSpPr txBox="1"/>
            <p:nvPr>
              <p:custDataLst>
                <p:tags r:id="rId21"/>
              </p:custDataLst>
            </p:nvPr>
          </p:nvSpPr>
          <p:spPr>
            <a:xfrm>
              <a:off x="2840990" y="3822871"/>
              <a:ext cx="689610" cy="1305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8A9BAB"/>
                  </a:solidFill>
                  <a:latin typeface="+mj-lt"/>
                  <a:ea typeface="+mj-ea"/>
                  <a:cs typeface="+mj-cs"/>
                </a:rPr>
                <a:t>P05–06</a:t>
              </a:r>
              <a:endParaRPr lang="en-US" sz="1200" dirty="0">
                <a:solidFill>
                  <a:srgbClr val="8A9BAB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6" name="TextBox 26"/>
            <p:cNvSpPr txBox="1"/>
            <p:nvPr>
              <p:custDataLst>
                <p:tags r:id="rId22"/>
              </p:custDataLst>
            </p:nvPr>
          </p:nvSpPr>
          <p:spPr>
            <a:xfrm>
              <a:off x="4593590" y="3822871"/>
              <a:ext cx="727710" cy="1305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8A9BAB"/>
                  </a:solidFill>
                  <a:latin typeface="+mj-lt"/>
                  <a:ea typeface="+mj-ea"/>
                  <a:cs typeface="+mj-cs"/>
                </a:rPr>
                <a:t>P07–08</a:t>
              </a:r>
              <a:endParaRPr lang="en-US" sz="1200" dirty="0">
                <a:solidFill>
                  <a:srgbClr val="8A9BAB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7" name="TextBox 27"/>
            <p:cNvSpPr txBox="1"/>
            <p:nvPr>
              <p:custDataLst>
                <p:tags r:id="rId23"/>
              </p:custDataLst>
            </p:nvPr>
          </p:nvSpPr>
          <p:spPr>
            <a:xfrm>
              <a:off x="6298565" y="3822871"/>
              <a:ext cx="813435" cy="1305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8A9BAB"/>
                  </a:solidFill>
                  <a:latin typeface="+mj-lt"/>
                  <a:ea typeface="+mj-ea"/>
                  <a:cs typeface="+mj-cs"/>
                </a:rPr>
                <a:t>P09–10</a:t>
              </a:r>
              <a:endParaRPr lang="en-US" sz="1200" dirty="0">
                <a:solidFill>
                  <a:srgbClr val="8A9BAB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8" name="TextBox 28"/>
            <p:cNvSpPr txBox="1"/>
            <p:nvPr>
              <p:custDataLst>
                <p:tags r:id="rId24"/>
              </p:custDataLst>
            </p:nvPr>
          </p:nvSpPr>
          <p:spPr>
            <a:xfrm>
              <a:off x="8273415" y="3822871"/>
              <a:ext cx="629285" cy="1305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8A9BAB"/>
                  </a:solidFill>
                  <a:latin typeface="+mj-lt"/>
                  <a:ea typeface="+mj-ea"/>
                  <a:cs typeface="+mj-cs"/>
                </a:rPr>
                <a:t>P11–12</a:t>
              </a:r>
              <a:endParaRPr lang="en-US" sz="1200" dirty="0">
                <a:solidFill>
                  <a:srgbClr val="8A9BAB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9" name="TextBox 29"/>
            <p:cNvSpPr txBox="1"/>
            <p:nvPr>
              <p:custDataLst>
                <p:tags r:id="rId25"/>
              </p:custDataLst>
            </p:nvPr>
          </p:nvSpPr>
          <p:spPr>
            <a:xfrm>
              <a:off x="10064115" y="3822871"/>
              <a:ext cx="629285" cy="1305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8A9BAB"/>
                  </a:solidFill>
                  <a:latin typeface="+mj-lt"/>
                  <a:ea typeface="+mj-ea"/>
                  <a:cs typeface="+mj-cs"/>
                </a:rPr>
                <a:t>P13</a:t>
              </a:r>
              <a:endParaRPr lang="en-US" sz="1200" dirty="0">
                <a:solidFill>
                  <a:srgbClr val="8A9BAB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681038" y="6381750"/>
            <a:ext cx="10829924" cy="184150"/>
            <a:chOff x="681038" y="6381750"/>
            <a:chExt cx="10829924" cy="184150"/>
          </a:xfrm>
        </p:grpSpPr>
        <p:sp>
          <p:nvSpPr>
            <p:cNvPr id="36" name="TextBox 36"/>
            <p:cNvSpPr txBox="1"/>
            <p:nvPr/>
          </p:nvSpPr>
          <p:spPr>
            <a:xfrm>
              <a:off x="681038" y="6381750"/>
              <a:ext cx="187579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A8B9B"/>
                  </a:solidFill>
                  <a:latin typeface="+mn-lt"/>
                  <a:ea typeface="+mn-ea"/>
                  <a:cs typeface="+mn-cs"/>
                </a:rPr>
                <a:t>第 4 章 进程同步 · 课堂回顾</a:t>
              </a:r>
              <a:endParaRPr lang="zh-CN" sz="1200" dirty="0">
                <a:solidFill>
                  <a:srgbClr val="7A8B9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997247" y="6381750"/>
              <a:ext cx="51371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A8B9B"/>
                  </a:solidFill>
                  <a:latin typeface="+mn-lt"/>
                  <a:ea typeface="+mn-ea"/>
                  <a:cs typeface="+mn-cs"/>
                </a:rPr>
                <a:t>02 / 1</a:t>
              </a:r>
              <a:r>
                <a:rPr lang="en-US" altLang="zh-CN" sz="1200" dirty="0">
                  <a:solidFill>
                    <a:srgbClr val="7A8B9B"/>
                  </a:solidFill>
                  <a:latin typeface="+mn-lt"/>
                  <a:ea typeface="+mn-ea"/>
                  <a:cs typeface="+mn-cs"/>
                </a:rPr>
                <a:t>4</a:t>
              </a:r>
              <a:endParaRPr lang="en-US" altLang="zh-CN" sz="1200" dirty="0">
                <a:solidFill>
                  <a:srgbClr val="7A8B9B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72084" y="704850"/>
            <a:ext cx="10834116" cy="866775"/>
            <a:chOff x="672084" y="704850"/>
            <a:chExt cx="10834116" cy="866775"/>
          </a:xfrm>
        </p:grpSpPr>
        <p:sp>
          <p:nvSpPr>
            <p:cNvPr id="2" name="TextBox 2"/>
            <p:cNvSpPr txBox="1"/>
            <p:nvPr/>
          </p:nvSpPr>
          <p:spPr>
            <a:xfrm>
              <a:off x="680847" y="704850"/>
              <a:ext cx="140843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12" dirty="0">
                  <a:solidFill>
                    <a:srgbClr val="1D4E7C"/>
                  </a:solidFill>
                  <a:latin typeface="+mj-lt"/>
                  <a:ea typeface="+mj-ea"/>
                  <a:cs typeface="+mj-cs"/>
                </a:rPr>
                <a:t>BLOOM 01 / 记忆</a:t>
              </a:r>
              <a:endParaRPr lang="zh-CN" sz="1200" spc="112" dirty="0">
                <a:solidFill>
                  <a:srgbClr val="1D4E7C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1003300"/>
              <a:ext cx="3251200" cy="492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200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本章讲了哪些内容</a:t>
              </a:r>
              <a:endParaRPr lang="zh-CN" sz="3200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5621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BD6E0"/>
              </a:solidFill>
            </a:ln>
          </p:spPr>
        </p:sp>
      </p:grpSp>
      <p:grpSp>
        <p:nvGrpSpPr>
          <p:cNvPr id="10" name="card-critical"/>
          <p:cNvGrpSpPr/>
          <p:nvPr/>
        </p:nvGrpSpPr>
        <p:grpSpPr>
          <a:xfrm>
            <a:off x="685800" y="1809750"/>
            <a:ext cx="3619500" cy="1162050"/>
            <a:chOff x="685800" y="1809750"/>
            <a:chExt cx="3619500" cy="1162050"/>
          </a:xfrm>
        </p:grpSpPr>
        <p:sp>
          <p:nvSpPr>
            <p:cNvPr id="6" name="Rectangle 6"/>
            <p:cNvSpPr/>
            <p:nvPr/>
          </p:nvSpPr>
          <p:spPr>
            <a:xfrm>
              <a:off x="685800" y="1809750"/>
              <a:ext cx="3619500" cy="11620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E4EC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07542" y="1987550"/>
              <a:ext cx="81280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临界资源</a:t>
              </a:r>
              <a:endParaRPr lang="zh-CN" sz="1600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9066" y="2330450"/>
              <a:ext cx="22860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B6C"/>
                  </a:solidFill>
                  <a:latin typeface="+mn-lt"/>
                  <a:ea typeface="+mn-ea"/>
                  <a:cs typeface="+mn-cs"/>
                </a:rPr>
                <a:t>一次只能给一个进程使用的资源。</a:t>
              </a:r>
              <a:endParaRPr lang="zh-CN" sz="1200" dirty="0">
                <a:solidFill>
                  <a:srgbClr val="4A5B6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9066" y="2559050"/>
              <a:ext cx="21336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B6C"/>
                  </a:solidFill>
                  <a:latin typeface="+mn-lt"/>
                  <a:ea typeface="+mn-ea"/>
                  <a:cs typeface="+mn-cs"/>
                </a:rPr>
                <a:t>缓冲区、共享变量都属于这类。</a:t>
              </a:r>
              <a:endParaRPr lang="zh-CN" sz="1200" dirty="0">
                <a:solidFill>
                  <a:srgbClr val="4A5B6C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5" name="card-section"/>
          <p:cNvGrpSpPr/>
          <p:nvPr/>
        </p:nvGrpSpPr>
        <p:grpSpPr>
          <a:xfrm>
            <a:off x="685800" y="3124200"/>
            <a:ext cx="3619500" cy="1162050"/>
            <a:chOff x="685800" y="3124200"/>
            <a:chExt cx="3619500" cy="1162050"/>
          </a:xfrm>
        </p:grpSpPr>
        <p:sp>
          <p:nvSpPr>
            <p:cNvPr id="11" name="Rectangle 11"/>
            <p:cNvSpPr/>
            <p:nvPr/>
          </p:nvSpPr>
          <p:spPr>
            <a:xfrm>
              <a:off x="685800" y="3124200"/>
              <a:ext cx="3619500" cy="11620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E4E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07542" y="3302000"/>
              <a:ext cx="101600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临界区四区</a:t>
              </a:r>
              <a:endParaRPr lang="zh-CN" sz="1600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9066" y="3644900"/>
              <a:ext cx="24384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B6C"/>
                  </a:solidFill>
                  <a:latin typeface="+mn-lt"/>
                  <a:ea typeface="+mn-ea"/>
                  <a:cs typeface="+mn-cs"/>
                </a:rPr>
                <a:t>进入区、临界区、退出区、剩余区。</a:t>
              </a:r>
              <a:endParaRPr lang="zh-CN" sz="1200" dirty="0">
                <a:solidFill>
                  <a:srgbClr val="4A5B6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9447" y="3886200"/>
              <a:ext cx="21336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A8B9B"/>
                  </a:solidFill>
                  <a:latin typeface="+mn-lt"/>
                  <a:ea typeface="+mn-ea"/>
                  <a:cs typeface="+mn-cs"/>
                </a:rPr>
                <a:t>只有临界区真正访问临界资源。</a:t>
              </a:r>
              <a:endParaRPr lang="zh-CN" sz="1200" dirty="0">
                <a:solidFill>
                  <a:srgbClr val="7A8B9B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9" name="card-rules"/>
          <p:cNvGrpSpPr/>
          <p:nvPr/>
        </p:nvGrpSpPr>
        <p:grpSpPr>
          <a:xfrm>
            <a:off x="685800" y="4438650"/>
            <a:ext cx="3619500" cy="1162050"/>
            <a:chOff x="685800" y="4438650"/>
            <a:chExt cx="3619500" cy="1162050"/>
          </a:xfrm>
        </p:grpSpPr>
        <p:sp>
          <p:nvSpPr>
            <p:cNvPr id="16" name="Rectangle 16"/>
            <p:cNvSpPr/>
            <p:nvPr/>
          </p:nvSpPr>
          <p:spPr>
            <a:xfrm>
              <a:off x="685800" y="4438650"/>
              <a:ext cx="3619500" cy="11620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E4E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7542" y="4616450"/>
              <a:ext cx="101600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同步四准则</a:t>
              </a:r>
              <a:endParaRPr lang="zh-CN" sz="1600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9066" y="4908550"/>
              <a:ext cx="1371600" cy="461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4A5B6C"/>
                  </a:solidFill>
                  <a:latin typeface="+mn-lt"/>
                  <a:ea typeface="+mn-ea"/>
                  <a:cs typeface="+mn-cs"/>
                </a:rPr>
                <a:t>空闲让进、忙则等待</a:t>
              </a:r>
              <a:br>
                <a:rPr lang="zh-CN" sz="1200" dirty="0">
                  <a:solidFill>
                    <a:srgbClr val="4A5B6C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rgbClr val="4A5B6C"/>
                  </a:solidFill>
                  <a:latin typeface="+mn-lt"/>
                  <a:ea typeface="+mn-ea"/>
                  <a:cs typeface="+mn-cs"/>
                </a:rPr>
                <a:t>有限等待、让权等待</a:t>
              </a:r>
              <a:endParaRPr lang="zh-CN" sz="1200" dirty="0">
                <a:solidFill>
                  <a:srgbClr val="4A5B6C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9" name="mech-list"/>
          <p:cNvGrpSpPr/>
          <p:nvPr/>
        </p:nvGrpSpPr>
        <p:grpSpPr>
          <a:xfrm>
            <a:off x="4681347" y="1866900"/>
            <a:ext cx="4912614" cy="4019550"/>
            <a:chOff x="4681347" y="1866900"/>
            <a:chExt cx="4912614" cy="4019550"/>
          </a:xfrm>
        </p:grpSpPr>
        <p:sp>
          <p:nvSpPr>
            <p:cNvPr id="20" name="TextBox 20"/>
            <p:cNvSpPr txBox="1"/>
            <p:nvPr/>
          </p:nvSpPr>
          <p:spPr>
            <a:xfrm>
              <a:off x="4681538" y="1866900"/>
              <a:ext cx="27686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12" dirty="0">
                  <a:solidFill>
                    <a:srgbClr val="8A9BAB"/>
                  </a:solidFill>
                  <a:latin typeface="+mj-lt"/>
                  <a:ea typeface="+mj-ea"/>
                  <a:cs typeface="+mj-cs"/>
                </a:rPr>
                <a:t>MECHANISMS · 四种机制和两个落点</a:t>
              </a:r>
              <a:endParaRPr lang="zh-CN" sz="1200" spc="112" dirty="0">
                <a:solidFill>
                  <a:srgbClr val="8A9BAB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81347" y="2228850"/>
              <a:ext cx="1676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4E7C"/>
                  </a:solidFill>
                  <a:latin typeface="+mj-lt"/>
                  <a:ea typeface="+mj-ea"/>
                  <a:cs typeface="+mj-cs"/>
                </a:rPr>
                <a:t>01</a:t>
              </a:r>
              <a:endParaRPr lang="zh-CN" sz="1200" dirty="0">
                <a:solidFill>
                  <a:srgbClr val="1D4E7C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21961" y="2165350"/>
              <a:ext cx="2380615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软件方法：Peterson 算法</a:t>
              </a:r>
              <a:endParaRPr lang="zh-CN" sz="1600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23866" y="2463800"/>
              <a:ext cx="334899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7B"/>
                  </a:solidFill>
                  <a:latin typeface="+mn-lt"/>
                  <a:ea typeface="+mn-ea"/>
                  <a:cs typeface="+mn-cs"/>
                </a:rPr>
                <a:t>用 turn 和 flag 两个变量，解决两个进程的互斥。</a:t>
              </a:r>
              <a:endParaRPr lang="zh-CN" sz="1200" dirty="0">
                <a:solidFill>
                  <a:srgbClr val="5A6B7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81347" y="2876550"/>
              <a:ext cx="1676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4E7C"/>
                  </a:solidFill>
                  <a:latin typeface="+mj-lt"/>
                  <a:ea typeface="+mj-ea"/>
                  <a:cs typeface="+mj-cs"/>
                </a:rPr>
                <a:t>02</a:t>
              </a:r>
              <a:endParaRPr lang="zh-CN" sz="1200" dirty="0">
                <a:solidFill>
                  <a:srgbClr val="1D4E7C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21961" y="2813050"/>
              <a:ext cx="264160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硬件方法：关中断和原子指令</a:t>
              </a:r>
              <a:endParaRPr lang="zh-CN" sz="1600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023866" y="3111500"/>
              <a:ext cx="407987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7B"/>
                  </a:solidFill>
                  <a:latin typeface="+mn-lt"/>
                  <a:ea typeface="+mn-ea"/>
                  <a:cs typeface="+mn-cs"/>
                </a:rPr>
                <a:t>TestAndSet 和 Swap 一条指令完成测试并上锁，但会空转。</a:t>
              </a:r>
              <a:endParaRPr lang="zh-CN" sz="1200" dirty="0">
                <a:solidFill>
                  <a:srgbClr val="5A6B7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81347" y="3524250"/>
              <a:ext cx="1676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4E7C"/>
                  </a:solidFill>
                  <a:latin typeface="+mj-lt"/>
                  <a:ea typeface="+mj-ea"/>
                  <a:cs typeface="+mj-cs"/>
                </a:rPr>
                <a:t>03</a:t>
              </a:r>
              <a:endParaRPr lang="zh-CN" sz="1200" dirty="0">
                <a:solidFill>
                  <a:srgbClr val="1D4E7C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021961" y="3460750"/>
              <a:ext cx="228854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信号量：P 操作和 V 操作</a:t>
              </a:r>
              <a:endParaRPr lang="zh-CN" sz="1600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23866" y="3759200"/>
              <a:ext cx="328803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7B"/>
                  </a:solidFill>
                  <a:latin typeface="+mn-lt"/>
                  <a:ea typeface="+mn-ea"/>
                  <a:cs typeface="+mn-cs"/>
                </a:rPr>
                <a:t>整型、记录型、AND 型、信号量集，一共四种。</a:t>
              </a:r>
              <a:endParaRPr lang="zh-CN" sz="1200" dirty="0">
                <a:solidFill>
                  <a:srgbClr val="5A6B7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81347" y="4171950"/>
              <a:ext cx="1676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4E7C"/>
                  </a:solidFill>
                  <a:latin typeface="+mj-lt"/>
                  <a:ea typeface="+mj-ea"/>
                  <a:cs typeface="+mj-cs"/>
                </a:rPr>
                <a:t>04</a:t>
              </a:r>
              <a:endParaRPr lang="zh-CN" sz="1200" dirty="0">
                <a:solidFill>
                  <a:srgbClr val="1D4E7C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21961" y="4108450"/>
              <a:ext cx="40640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管程</a:t>
              </a:r>
              <a:endParaRPr lang="zh-CN" sz="1600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023866" y="4406900"/>
              <a:ext cx="33528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7B"/>
                  </a:solidFill>
                  <a:latin typeface="+mn-lt"/>
                  <a:ea typeface="+mn-ea"/>
                  <a:cs typeface="+mn-cs"/>
                </a:rPr>
                <a:t>共享变量和操作封装在一起，互斥由编译器保证。</a:t>
              </a:r>
              <a:endParaRPr lang="zh-CN" sz="1200" dirty="0">
                <a:solidFill>
                  <a:srgbClr val="5A6B7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81347" y="4819650"/>
              <a:ext cx="1676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4E7C"/>
                  </a:solidFill>
                  <a:latin typeface="+mj-lt"/>
                  <a:ea typeface="+mj-ea"/>
                  <a:cs typeface="+mj-cs"/>
                </a:rPr>
                <a:t>05</a:t>
              </a:r>
              <a:endParaRPr lang="zh-CN" sz="1200" dirty="0">
                <a:solidFill>
                  <a:srgbClr val="1D4E7C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021961" y="4756150"/>
              <a:ext cx="121920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三个经典问题</a:t>
              </a:r>
              <a:endParaRPr lang="zh-CN" sz="1600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023866" y="5054600"/>
              <a:ext cx="287528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7B"/>
                  </a:solidFill>
                  <a:latin typeface="+mn-lt"/>
                  <a:ea typeface="+mn-ea"/>
                  <a:cs typeface="+mn-cs"/>
                </a:rPr>
                <a:t>生产者-消费者、哲学家进餐、读者-写者。</a:t>
              </a:r>
              <a:endParaRPr lang="zh-CN" sz="1200" dirty="0">
                <a:solidFill>
                  <a:srgbClr val="5A6B7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681347" y="5467350"/>
              <a:ext cx="1676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4E7C"/>
                  </a:solidFill>
                  <a:latin typeface="+mj-lt"/>
                  <a:ea typeface="+mj-ea"/>
                  <a:cs typeface="+mj-cs"/>
                </a:rPr>
                <a:t>06</a:t>
              </a:r>
              <a:endParaRPr lang="zh-CN" sz="1200" dirty="0">
                <a:solidFill>
                  <a:srgbClr val="1D4E7C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021961" y="5403850"/>
              <a:ext cx="122301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Linux 和鸿蒙</a:t>
              </a:r>
              <a:endParaRPr lang="zh-CN" sz="1600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023866" y="5702300"/>
              <a:ext cx="457009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7B"/>
                  </a:solidFill>
                  <a:latin typeface="+mn-lt"/>
                  <a:ea typeface="+mn-ea"/>
                  <a:cs typeface="+mn-cs"/>
                </a:rPr>
                <a:t>Linux 用原子操作、自旋锁、互斥锁和信号量；鸿蒙另有 IPC 机制。</a:t>
              </a:r>
              <a:endParaRPr lang="zh-CN" sz="1200" dirty="0">
                <a:solidFill>
                  <a:srgbClr val="5A6B7B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681038" y="6400800"/>
            <a:ext cx="10829924" cy="184150"/>
            <a:chOff x="681038" y="6400800"/>
            <a:chExt cx="10829924" cy="184150"/>
          </a:xfrm>
        </p:grpSpPr>
        <p:sp>
          <p:nvSpPr>
            <p:cNvPr id="40" name="TextBox 40"/>
            <p:cNvSpPr txBox="1"/>
            <p:nvPr/>
          </p:nvSpPr>
          <p:spPr>
            <a:xfrm>
              <a:off x="681038" y="6400800"/>
              <a:ext cx="187579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A8B9B"/>
                  </a:solidFill>
                  <a:latin typeface="+mn-lt"/>
                  <a:ea typeface="+mn-ea"/>
                  <a:cs typeface="+mn-cs"/>
                </a:rPr>
                <a:t>第 4 章 进程同步 · 课堂回顾</a:t>
              </a:r>
              <a:endParaRPr lang="zh-CN" sz="1200" dirty="0">
                <a:solidFill>
                  <a:srgbClr val="7A8B9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997247" y="6400800"/>
              <a:ext cx="51371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A8B9B"/>
                  </a:solidFill>
                  <a:latin typeface="+mn-lt"/>
                  <a:ea typeface="+mn-ea"/>
                  <a:cs typeface="+mn-cs"/>
                </a:rPr>
                <a:t>03 / 1</a:t>
              </a:r>
              <a:r>
                <a:rPr lang="en-US" altLang="zh-CN" sz="1200" dirty="0">
                  <a:solidFill>
                    <a:srgbClr val="7A8B9B"/>
                  </a:solidFill>
                  <a:latin typeface="+mn-lt"/>
                  <a:ea typeface="+mn-ea"/>
                  <a:cs typeface="+mn-cs"/>
                </a:rPr>
                <a:t>4</a:t>
              </a:r>
              <a:endParaRPr lang="en-US" altLang="zh-CN" sz="1200" dirty="0">
                <a:solidFill>
                  <a:srgbClr val="7A8B9B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72084" y="704850"/>
            <a:ext cx="10834116" cy="866775"/>
            <a:chOff x="672084" y="704850"/>
            <a:chExt cx="10834116" cy="866775"/>
          </a:xfrm>
        </p:grpSpPr>
        <p:sp>
          <p:nvSpPr>
            <p:cNvPr id="2" name="TextBox 2"/>
            <p:cNvSpPr txBox="1"/>
            <p:nvPr/>
          </p:nvSpPr>
          <p:spPr>
            <a:xfrm>
              <a:off x="680847" y="704850"/>
              <a:ext cx="140843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12" dirty="0">
                  <a:solidFill>
                    <a:srgbClr val="1D4E7C"/>
                  </a:solidFill>
                  <a:latin typeface="+mj-lt"/>
                  <a:ea typeface="+mj-ea"/>
                  <a:cs typeface="+mj-cs"/>
                </a:rPr>
                <a:t>BLOOM 01 / 记忆</a:t>
              </a:r>
              <a:endParaRPr lang="zh-CN" sz="1200" spc="112" dirty="0">
                <a:solidFill>
                  <a:srgbClr val="1D4E7C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1003300"/>
              <a:ext cx="1625600" cy="492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200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六个概念</a:t>
              </a:r>
              <a:endParaRPr lang="zh-CN" sz="3200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5621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BD6E0"/>
              </a:solidFill>
            </a:ln>
          </p:spPr>
        </p:sp>
      </p:grpSp>
      <p:grpSp>
        <p:nvGrpSpPr>
          <p:cNvPr id="11" name="memo-1"/>
          <p:cNvGrpSpPr/>
          <p:nvPr/>
        </p:nvGrpSpPr>
        <p:grpSpPr>
          <a:xfrm>
            <a:off x="685800" y="1809750"/>
            <a:ext cx="3390900" cy="1866900"/>
            <a:chOff x="685800" y="1809750"/>
            <a:chExt cx="3390900" cy="1866900"/>
          </a:xfrm>
        </p:grpSpPr>
        <p:sp>
          <p:nvSpPr>
            <p:cNvPr id="6" name="Rectangle 6"/>
            <p:cNvSpPr/>
            <p:nvPr/>
          </p:nvSpPr>
          <p:spPr>
            <a:xfrm>
              <a:off x="685800" y="1809750"/>
              <a:ext cx="3390900" cy="1866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E4EC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09638" y="2051050"/>
              <a:ext cx="1676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A227"/>
                  </a:solidFill>
                  <a:latin typeface="+mj-lt"/>
                  <a:ea typeface="+mj-ea"/>
                  <a:cs typeface="+mj-cs"/>
                </a:rPr>
                <a:t>01</a:t>
              </a:r>
              <a:endParaRPr lang="zh-CN" sz="1200" dirty="0">
                <a:solidFill>
                  <a:srgbClr val="C9A227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7161" y="2317750"/>
              <a:ext cx="81280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临界资源</a:t>
              </a:r>
              <a:endParaRPr lang="zh-CN" sz="1600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9066" y="2711450"/>
              <a:ext cx="21336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B6C"/>
                  </a:solidFill>
                  <a:latin typeface="+mn-lt"/>
                  <a:ea typeface="+mn-ea"/>
                  <a:cs typeface="+mn-cs"/>
                </a:rPr>
                <a:t>一次只能给一个进程用的资源。</a:t>
              </a:r>
              <a:endParaRPr lang="zh-CN" sz="1200" dirty="0">
                <a:solidFill>
                  <a:srgbClr val="4A5B6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9066" y="2940050"/>
              <a:ext cx="16764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B6C"/>
                  </a:solidFill>
                  <a:latin typeface="+mn-lt"/>
                  <a:ea typeface="+mn-ea"/>
                  <a:cs typeface="+mn-cs"/>
                </a:rPr>
                <a:t>缓冲区、共享变量都是。</a:t>
              </a:r>
              <a:endParaRPr lang="zh-CN" sz="1200" dirty="0">
                <a:solidFill>
                  <a:srgbClr val="4A5B6C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6" name="memo-2"/>
          <p:cNvGrpSpPr/>
          <p:nvPr/>
        </p:nvGrpSpPr>
        <p:grpSpPr>
          <a:xfrm>
            <a:off x="4305300" y="1809750"/>
            <a:ext cx="3390900" cy="1866900"/>
            <a:chOff x="4305300" y="1809750"/>
            <a:chExt cx="3390900" cy="1866900"/>
          </a:xfrm>
        </p:grpSpPr>
        <p:sp>
          <p:nvSpPr>
            <p:cNvPr id="12" name="Rectangle 12"/>
            <p:cNvSpPr/>
            <p:nvPr/>
          </p:nvSpPr>
          <p:spPr>
            <a:xfrm>
              <a:off x="4305300" y="1809750"/>
              <a:ext cx="3390900" cy="1866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E4E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529138" y="2051050"/>
              <a:ext cx="1676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A227"/>
                  </a:solidFill>
                  <a:latin typeface="+mj-lt"/>
                  <a:ea typeface="+mj-ea"/>
                  <a:cs typeface="+mj-cs"/>
                </a:rPr>
                <a:t>02</a:t>
              </a:r>
              <a:endParaRPr lang="zh-CN" sz="1200" dirty="0">
                <a:solidFill>
                  <a:srgbClr val="C9A227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26661" y="2317750"/>
              <a:ext cx="60960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四准则</a:t>
              </a:r>
              <a:endParaRPr lang="zh-CN" sz="1600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28566" y="2660650"/>
              <a:ext cx="1524000" cy="461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4A5B6C"/>
                  </a:solidFill>
                  <a:latin typeface="+mn-lt"/>
                  <a:ea typeface="+mn-ea"/>
                  <a:cs typeface="+mn-cs"/>
                </a:rPr>
                <a:t>空闲让进、忙则等待、</a:t>
              </a:r>
              <a:br>
                <a:rPr lang="zh-CN" sz="1200" dirty="0">
                  <a:solidFill>
                    <a:srgbClr val="4A5B6C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rgbClr val="4A5B6C"/>
                  </a:solidFill>
                  <a:latin typeface="+mn-lt"/>
                  <a:ea typeface="+mn-ea"/>
                  <a:cs typeface="+mn-cs"/>
                </a:rPr>
                <a:t>有限等待、让权等待。</a:t>
              </a:r>
              <a:endParaRPr lang="zh-CN" sz="1200" dirty="0">
                <a:solidFill>
                  <a:srgbClr val="4A5B6C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2" name="memo-3"/>
          <p:cNvGrpSpPr/>
          <p:nvPr/>
        </p:nvGrpSpPr>
        <p:grpSpPr>
          <a:xfrm>
            <a:off x="7924800" y="1809750"/>
            <a:ext cx="3390900" cy="1866900"/>
            <a:chOff x="7924800" y="1809750"/>
            <a:chExt cx="3390900" cy="1866900"/>
          </a:xfrm>
        </p:grpSpPr>
        <p:sp>
          <p:nvSpPr>
            <p:cNvPr id="17" name="Rectangle 17"/>
            <p:cNvSpPr/>
            <p:nvPr/>
          </p:nvSpPr>
          <p:spPr>
            <a:xfrm>
              <a:off x="7924800" y="1809750"/>
              <a:ext cx="3390900" cy="1866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E4EC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148638" y="2051050"/>
              <a:ext cx="1676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A227"/>
                  </a:solidFill>
                  <a:latin typeface="+mj-lt"/>
                  <a:ea typeface="+mj-ea"/>
                  <a:cs typeface="+mj-cs"/>
                </a:rPr>
                <a:t>03</a:t>
              </a:r>
              <a:endParaRPr lang="zh-CN" sz="1200" dirty="0">
                <a:solidFill>
                  <a:srgbClr val="C9A227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46161" y="2317750"/>
              <a:ext cx="94869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PV 的含义</a:t>
              </a:r>
              <a:endParaRPr lang="zh-CN" sz="1600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48066" y="2711450"/>
              <a:ext cx="17016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B6C"/>
                  </a:solidFill>
                  <a:latin typeface="+mn-lt"/>
                  <a:ea typeface="+mn-ea"/>
                  <a:cs typeface="+mn-cs"/>
                </a:rPr>
                <a:t>S 大于 0：还有 S 个资源。</a:t>
              </a:r>
              <a:endParaRPr lang="zh-CN" sz="1050" dirty="0">
                <a:solidFill>
                  <a:srgbClr val="4A5B6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48066" y="2940050"/>
              <a:ext cx="19326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B6C"/>
                  </a:solidFill>
                  <a:latin typeface="+mn-lt"/>
                  <a:ea typeface="+mn-ea"/>
                  <a:cs typeface="+mn-cs"/>
                </a:rPr>
                <a:t>S 小于 0：有 |S| 个进程在等。</a:t>
              </a:r>
              <a:endParaRPr lang="zh-CN" sz="1050" dirty="0">
                <a:solidFill>
                  <a:srgbClr val="4A5B6C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memo-4"/>
          <p:cNvGrpSpPr/>
          <p:nvPr/>
        </p:nvGrpSpPr>
        <p:grpSpPr>
          <a:xfrm>
            <a:off x="685800" y="3905250"/>
            <a:ext cx="3435731" cy="1866900"/>
            <a:chOff x="685800" y="3905250"/>
            <a:chExt cx="3435731" cy="1866900"/>
          </a:xfrm>
        </p:grpSpPr>
        <p:sp>
          <p:nvSpPr>
            <p:cNvPr id="23" name="Rectangle 23"/>
            <p:cNvSpPr/>
            <p:nvPr/>
          </p:nvSpPr>
          <p:spPr>
            <a:xfrm>
              <a:off x="685800" y="3905250"/>
              <a:ext cx="3390900" cy="1866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E4EC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09638" y="4146550"/>
              <a:ext cx="1676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A227"/>
                  </a:solidFill>
                  <a:latin typeface="+mj-lt"/>
                  <a:ea typeface="+mj-ea"/>
                  <a:cs typeface="+mj-cs"/>
                </a:rPr>
                <a:t>04</a:t>
              </a:r>
              <a:endParaRPr lang="zh-CN" sz="1200" dirty="0">
                <a:solidFill>
                  <a:srgbClr val="C9A227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7161" y="4413250"/>
              <a:ext cx="121920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记录型信号量</a:t>
              </a:r>
              <a:endParaRPr lang="zh-CN" sz="1600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9066" y="4756150"/>
              <a:ext cx="3212465" cy="461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4A5B6C"/>
                  </a:solidFill>
                  <a:latin typeface="+mn-lt"/>
                  <a:ea typeface="+mn-ea"/>
                  <a:cs typeface="+mn-cs"/>
                </a:rPr>
                <a:t>value 加一个等待队列。wait 减到负数就阻塞，</a:t>
              </a:r>
              <a:br>
                <a:rPr lang="zh-CN" sz="1200" dirty="0">
                  <a:solidFill>
                    <a:srgbClr val="4A5B6C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rgbClr val="4A5B6C"/>
                  </a:solidFill>
                  <a:latin typeface="+mn-lt"/>
                  <a:ea typeface="+mn-ea"/>
                  <a:cs typeface="+mn-cs"/>
                </a:rPr>
                <a:t>signal 加完不大于 0 就唤醒一个。</a:t>
              </a:r>
              <a:endParaRPr lang="zh-CN" sz="1200" dirty="0">
                <a:solidFill>
                  <a:srgbClr val="4A5B6C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3" name="memo-5"/>
          <p:cNvGrpSpPr/>
          <p:nvPr/>
        </p:nvGrpSpPr>
        <p:grpSpPr>
          <a:xfrm>
            <a:off x="4305300" y="3905250"/>
            <a:ext cx="3390900" cy="1866900"/>
            <a:chOff x="4305300" y="3905250"/>
            <a:chExt cx="3390900" cy="1866900"/>
          </a:xfrm>
        </p:grpSpPr>
        <p:sp>
          <p:nvSpPr>
            <p:cNvPr id="28" name="Rectangle 28"/>
            <p:cNvSpPr/>
            <p:nvPr/>
          </p:nvSpPr>
          <p:spPr>
            <a:xfrm>
              <a:off x="4305300" y="3905250"/>
              <a:ext cx="3390900" cy="1866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E4EC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529138" y="4146550"/>
              <a:ext cx="1676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A227"/>
                  </a:solidFill>
                  <a:latin typeface="+mj-lt"/>
                  <a:ea typeface="+mj-ea"/>
                  <a:cs typeface="+mj-cs"/>
                </a:rPr>
                <a:t>05</a:t>
              </a:r>
              <a:endParaRPr lang="zh-CN" sz="1200" dirty="0">
                <a:solidFill>
                  <a:srgbClr val="C9A227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26661" y="4413250"/>
              <a:ext cx="101600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死锁与饥饿</a:t>
              </a:r>
              <a:endParaRPr lang="zh-CN" sz="1600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28566" y="4806950"/>
              <a:ext cx="16764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B6C"/>
                  </a:solidFill>
                  <a:latin typeface="+mn-lt"/>
                  <a:ea typeface="+mn-ea"/>
                  <a:cs typeface="+mn-cs"/>
                </a:rPr>
                <a:t>死锁：几个进程互相等。</a:t>
              </a:r>
              <a:endParaRPr lang="zh-CN" sz="1200" dirty="0">
                <a:solidFill>
                  <a:srgbClr val="4A5B6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28566" y="5035550"/>
              <a:ext cx="19812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B6C"/>
                  </a:solidFill>
                  <a:latin typeface="+mn-lt"/>
                  <a:ea typeface="+mn-ea"/>
                  <a:cs typeface="+mn-cs"/>
                </a:rPr>
                <a:t>饥饿：一个进程一直轮不到。</a:t>
              </a:r>
              <a:endParaRPr lang="zh-CN" sz="1200" dirty="0">
                <a:solidFill>
                  <a:srgbClr val="4A5B6C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9" name="memo-6"/>
          <p:cNvGrpSpPr/>
          <p:nvPr/>
        </p:nvGrpSpPr>
        <p:grpSpPr>
          <a:xfrm>
            <a:off x="7924800" y="3905250"/>
            <a:ext cx="3390900" cy="1866900"/>
            <a:chOff x="7924800" y="3905250"/>
            <a:chExt cx="3390900" cy="1866900"/>
          </a:xfrm>
        </p:grpSpPr>
        <p:sp>
          <p:nvSpPr>
            <p:cNvPr id="34" name="Rectangle 34"/>
            <p:cNvSpPr/>
            <p:nvPr/>
          </p:nvSpPr>
          <p:spPr>
            <a:xfrm>
              <a:off x="7924800" y="3905250"/>
              <a:ext cx="3390900" cy="1866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E4EC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148638" y="4146550"/>
              <a:ext cx="1676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A227"/>
                  </a:solidFill>
                  <a:latin typeface="+mj-lt"/>
                  <a:ea typeface="+mj-ea"/>
                  <a:cs typeface="+mj-cs"/>
                </a:rPr>
                <a:t>06</a:t>
              </a:r>
              <a:endParaRPr lang="zh-CN" sz="1200" dirty="0">
                <a:solidFill>
                  <a:srgbClr val="C9A227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46161" y="4413250"/>
              <a:ext cx="81280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课堂练习</a:t>
              </a:r>
              <a:endParaRPr lang="zh-CN" sz="1600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48066" y="4806950"/>
              <a:ext cx="243014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B6C"/>
                  </a:solidFill>
                  <a:latin typeface="+mn-lt"/>
                  <a:ea typeface="+mn-ea"/>
                  <a:cs typeface="+mn-cs"/>
                </a:rPr>
                <a:t>资源 8、信号量 2：还有 2 个可用。</a:t>
              </a:r>
              <a:endParaRPr lang="zh-CN" sz="1200" dirty="0">
                <a:solidFill>
                  <a:srgbClr val="4A5B6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48066" y="5035550"/>
              <a:ext cx="205676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B6C"/>
                  </a:solidFill>
                  <a:latin typeface="+mn-lt"/>
                  <a:ea typeface="+mn-ea"/>
                  <a:cs typeface="+mn-cs"/>
                </a:rPr>
                <a:t>信号量 -2：有 2 个进程在等。</a:t>
              </a:r>
              <a:endParaRPr lang="zh-CN" sz="1200" dirty="0">
                <a:solidFill>
                  <a:srgbClr val="4A5B6C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681038" y="6400800"/>
            <a:ext cx="10829924" cy="184150"/>
            <a:chOff x="681038" y="6400800"/>
            <a:chExt cx="10829924" cy="184150"/>
          </a:xfrm>
        </p:grpSpPr>
        <p:sp>
          <p:nvSpPr>
            <p:cNvPr id="42" name="TextBox 42"/>
            <p:cNvSpPr txBox="1"/>
            <p:nvPr/>
          </p:nvSpPr>
          <p:spPr>
            <a:xfrm>
              <a:off x="681038" y="6400800"/>
              <a:ext cx="187579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A8B9B"/>
                  </a:solidFill>
                  <a:latin typeface="+mn-lt"/>
                  <a:ea typeface="+mn-ea"/>
                  <a:cs typeface="+mn-cs"/>
                </a:rPr>
                <a:t>第 4 章 进程同步 · 课堂回顾</a:t>
              </a:r>
              <a:endParaRPr lang="zh-CN" sz="1200" dirty="0">
                <a:solidFill>
                  <a:srgbClr val="7A8B9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997247" y="6400800"/>
              <a:ext cx="51371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A8B9B"/>
                  </a:solidFill>
                  <a:latin typeface="+mn-lt"/>
                  <a:ea typeface="+mn-ea"/>
                  <a:cs typeface="+mn-cs"/>
                </a:rPr>
                <a:t>04 / 1</a:t>
              </a:r>
              <a:r>
                <a:rPr lang="en-US" altLang="zh-CN" sz="1200" dirty="0">
                  <a:solidFill>
                    <a:srgbClr val="7A8B9B"/>
                  </a:solidFill>
                  <a:latin typeface="+mn-lt"/>
                  <a:ea typeface="+mn-ea"/>
                  <a:cs typeface="+mn-cs"/>
                </a:rPr>
                <a:t>4</a:t>
              </a:r>
              <a:endParaRPr lang="en-US" altLang="zh-CN" sz="1200" dirty="0">
                <a:solidFill>
                  <a:srgbClr val="7A8B9B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72084" y="704850"/>
            <a:ext cx="10834116" cy="866775"/>
            <a:chOff x="672084" y="704850"/>
            <a:chExt cx="10834116" cy="866775"/>
          </a:xfrm>
        </p:grpSpPr>
        <p:sp>
          <p:nvSpPr>
            <p:cNvPr id="2" name="TextBox 2"/>
            <p:cNvSpPr txBox="1"/>
            <p:nvPr/>
          </p:nvSpPr>
          <p:spPr>
            <a:xfrm>
              <a:off x="680847" y="704850"/>
              <a:ext cx="140843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12" dirty="0">
                  <a:solidFill>
                    <a:srgbClr val="1D4E7C"/>
                  </a:solidFill>
                  <a:latin typeface="+mj-lt"/>
                  <a:ea typeface="+mj-ea"/>
                  <a:cs typeface="+mj-cs"/>
                </a:rPr>
                <a:t>BLOOM 02 / 理解</a:t>
              </a:r>
              <a:endParaRPr lang="zh-CN" sz="1200" spc="112" dirty="0">
                <a:solidFill>
                  <a:srgbClr val="1D4E7C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1003300"/>
              <a:ext cx="4757420" cy="492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200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count++ 为什么会丢数据</a:t>
              </a:r>
              <a:endParaRPr lang="zh-CN" sz="3200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5621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BD6E0"/>
              </a:solidFill>
            </a:ln>
          </p:spPr>
        </p:sp>
      </p:grpSp>
      <p:grpSp>
        <p:nvGrpSpPr>
          <p:cNvPr id="12" name="code-race"/>
          <p:cNvGrpSpPr/>
          <p:nvPr/>
        </p:nvGrpSpPr>
        <p:grpSpPr>
          <a:xfrm>
            <a:off x="685800" y="1809750"/>
            <a:ext cx="5143500" cy="2952750"/>
            <a:chOff x="685800" y="1809750"/>
            <a:chExt cx="5143500" cy="2952750"/>
          </a:xfrm>
        </p:grpSpPr>
        <p:sp>
          <p:nvSpPr>
            <p:cNvPr id="6" name="Rectangle 6"/>
            <p:cNvSpPr/>
            <p:nvPr/>
          </p:nvSpPr>
          <p:spPr>
            <a:xfrm>
              <a:off x="685800" y="1809750"/>
              <a:ext cx="5143500" cy="2952750"/>
            </a:xfrm>
            <a:prstGeom prst="rect">
              <a:avLst/>
            </a:prstGeom>
            <a:solidFill>
              <a:srgbClr val="16202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09638" y="2038350"/>
              <a:ext cx="26866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112" dirty="0">
                  <a:solidFill>
                    <a:srgbClr val="8FB3D0"/>
                  </a:solidFill>
                  <a:latin typeface="+mj-lt"/>
                  <a:ea typeface="+mj-ea"/>
                  <a:cs typeface="+mj-cs"/>
                </a:rPr>
                <a:t>COUNT++ / COUNT--：机器级的三条指令</a:t>
              </a:r>
              <a:endParaRPr lang="zh-CN" sz="900" spc="112" dirty="0">
                <a:solidFill>
                  <a:srgbClr val="8FB3D0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8304" y="2362200"/>
              <a:ext cx="1658112" cy="844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200" dirty="0">
                  <a:solidFill>
                    <a:srgbClr val="E8EEF4"/>
                  </a:solidFill>
                  <a:latin typeface="+mj-lt"/>
                  <a:ea typeface="+mj-ea"/>
                  <a:cs typeface="+mj-cs"/>
                </a:rPr>
                <a:t>R1 = count // 读到 5</a:t>
              </a:r>
              <a:br>
                <a:rPr lang="zh-CN" sz="1200" dirty="0">
                  <a:solidFill>
                    <a:srgbClr val="E8EEF4"/>
                  </a:solidFill>
                  <a:latin typeface="+mj-lt"/>
                  <a:ea typeface="+mj-ea"/>
                  <a:cs typeface="+mj-cs"/>
                </a:rPr>
              </a:br>
              <a:r>
                <a:rPr lang="en-US" sz="1200" dirty="0">
                  <a:solidFill>
                    <a:srgbClr val="E8EEF4"/>
                  </a:solidFill>
                  <a:latin typeface="+mj-lt"/>
                  <a:ea typeface="+mj-ea"/>
                  <a:cs typeface="+mj-cs"/>
                </a:rPr>
                <a:t>R1 = R1 + 1 // 6</a:t>
              </a:r>
              <a:br>
                <a:rPr lang="en-US" sz="1200" dirty="0">
                  <a:solidFill>
                    <a:srgbClr val="E8EEF4"/>
                  </a:solidFill>
                  <a:latin typeface="+mj-lt"/>
                  <a:ea typeface="+mj-ea"/>
                  <a:cs typeface="+mj-cs"/>
                </a:rPr>
              </a:br>
              <a:r>
                <a:rPr lang="zh-CN" sz="1200" dirty="0">
                  <a:solidFill>
                    <a:srgbClr val="E8EEF4"/>
                  </a:solidFill>
                  <a:latin typeface="+mj-lt"/>
                  <a:ea typeface="+mj-ea"/>
                  <a:cs typeface="+mj-cs"/>
                </a:rPr>
                <a:t>count = R1 // 写回 6</a:t>
              </a:r>
              <a:endParaRPr lang="zh-CN" sz="1200" dirty="0">
                <a:solidFill>
                  <a:srgbClr val="E8EEF4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9" name="Line 9"/>
            <p:cNvSpPr/>
            <p:nvPr/>
          </p:nvSpPr>
          <p:spPr>
            <a:xfrm>
              <a:off x="914400" y="3409950"/>
              <a:ext cx="4686300" cy="9525"/>
            </a:xfrm>
            <a:custGeom>
              <a:avLst/>
              <a:gdLst/>
              <a:ahLst/>
              <a:cxnLst/>
              <a:rect l="l" t="t" r="r" b="b"/>
              <a:pathLst>
                <a:path w="4686300" h="9525">
                  <a:moveTo>
                    <a:pt x="0" y="0"/>
                  </a:moveTo>
                  <a:lnTo>
                    <a:pt x="4686300" y="0"/>
                  </a:lnTo>
                </a:path>
              </a:pathLst>
            </a:custGeom>
            <a:noFill/>
            <a:ln w="9525">
              <a:solidFill>
                <a:srgbClr val="2C4257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9638" y="3638550"/>
              <a:ext cx="19654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FB3D0"/>
                  </a:solidFill>
                  <a:latin typeface="+mj-lt"/>
                  <a:ea typeface="+mj-ea"/>
                  <a:cs typeface="+mj-cs"/>
                </a:rPr>
                <a:t>count-- 同理，用另一组寄存器 R2</a:t>
              </a:r>
              <a:endParaRPr lang="zh-CN" sz="900" dirty="0">
                <a:solidFill>
                  <a:srgbClr val="8FB3D0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8304" y="3771900"/>
              <a:ext cx="1658112" cy="844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200" dirty="0">
                  <a:solidFill>
                    <a:srgbClr val="E8EEF4"/>
                  </a:solidFill>
                  <a:latin typeface="+mj-lt"/>
                  <a:ea typeface="+mj-ea"/>
                  <a:cs typeface="+mj-cs"/>
                </a:rPr>
                <a:t>R2 = count // 读到 5</a:t>
              </a:r>
              <a:br>
                <a:rPr lang="zh-CN" sz="1200" dirty="0">
                  <a:solidFill>
                    <a:srgbClr val="E8EEF4"/>
                  </a:solidFill>
                  <a:latin typeface="+mj-lt"/>
                  <a:ea typeface="+mj-ea"/>
                  <a:cs typeface="+mj-cs"/>
                </a:rPr>
              </a:br>
              <a:r>
                <a:rPr lang="en-US" sz="1200" dirty="0">
                  <a:solidFill>
                    <a:srgbClr val="E8EEF4"/>
                  </a:solidFill>
                  <a:latin typeface="+mj-lt"/>
                  <a:ea typeface="+mj-ea"/>
                  <a:cs typeface="+mj-cs"/>
                </a:rPr>
                <a:t>R2 = R2 - 1 // 4</a:t>
              </a:r>
              <a:br>
                <a:rPr lang="en-US" sz="1200" dirty="0">
                  <a:solidFill>
                    <a:srgbClr val="E8EEF4"/>
                  </a:solidFill>
                  <a:latin typeface="+mj-lt"/>
                  <a:ea typeface="+mj-ea"/>
                  <a:cs typeface="+mj-cs"/>
                </a:rPr>
              </a:br>
              <a:r>
                <a:rPr lang="zh-CN" sz="1200" dirty="0">
                  <a:solidFill>
                    <a:srgbClr val="E8EEF4"/>
                  </a:solidFill>
                  <a:latin typeface="+mj-lt"/>
                  <a:ea typeface="+mj-ea"/>
                  <a:cs typeface="+mj-cs"/>
                </a:rPr>
                <a:t>count = R2 // 写回 4</a:t>
              </a:r>
              <a:endParaRPr lang="zh-CN" sz="1200" dirty="0">
                <a:solidFill>
                  <a:srgbClr val="E8EEF4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37" name="interleave"/>
          <p:cNvGrpSpPr/>
          <p:nvPr/>
        </p:nvGrpSpPr>
        <p:grpSpPr>
          <a:xfrm>
            <a:off x="6167438" y="1936750"/>
            <a:ext cx="5338762" cy="2603500"/>
            <a:chOff x="6167438" y="1936750"/>
            <a:chExt cx="5338762" cy="2603500"/>
          </a:xfrm>
        </p:grpSpPr>
        <p:sp>
          <p:nvSpPr>
            <p:cNvPr id="13" name="TextBox 13"/>
            <p:cNvSpPr txBox="1"/>
            <p:nvPr/>
          </p:nvSpPr>
          <p:spPr>
            <a:xfrm>
              <a:off x="6167438" y="1936750"/>
              <a:ext cx="251841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90" dirty="0">
                  <a:solidFill>
                    <a:srgbClr val="8A9BAB"/>
                  </a:solidFill>
                  <a:latin typeface="+mj-lt"/>
                  <a:ea typeface="+mj-ea"/>
                  <a:cs typeface="+mj-cs"/>
                </a:rPr>
                <a:t>INTERLEAVING / count 初值 5</a:t>
              </a:r>
              <a:endParaRPr lang="zh-CN" sz="1200" spc="90" dirty="0">
                <a:solidFill>
                  <a:srgbClr val="8A9BAB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62547" y="2209800"/>
              <a:ext cx="105981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F7D5B"/>
                  </a:solidFill>
                  <a:latin typeface="+mn-lt"/>
                  <a:ea typeface="+mn-ea"/>
                  <a:cs typeface="+mn-cs"/>
                </a:rPr>
                <a:t>正确：P 先做完</a:t>
              </a:r>
              <a:endParaRPr lang="zh-CN" sz="1200" b="1" dirty="0">
                <a:solidFill>
                  <a:srgbClr val="2F7D5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329547" y="2209800"/>
              <a:ext cx="10668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23A2E"/>
                  </a:solidFill>
                  <a:latin typeface="+mn-lt"/>
                  <a:ea typeface="+mn-ea"/>
                  <a:cs typeface="+mn-cs"/>
                </a:rPr>
                <a:t>出错：指令穿插</a:t>
              </a:r>
              <a:endParaRPr lang="zh-CN" sz="1200" b="1" dirty="0">
                <a:solidFill>
                  <a:srgbClr val="B23A2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167438" y="256540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5B3C0"/>
                  </a:solidFill>
                  <a:latin typeface="+mj-lt"/>
                  <a:ea typeface="+mj-ea"/>
                  <a:cs typeface="+mj-cs"/>
                </a:rPr>
                <a:t>1</a:t>
              </a:r>
              <a:endParaRPr lang="zh-CN" sz="900" dirty="0">
                <a:solidFill>
                  <a:srgbClr val="A5B3C0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62547" y="2552700"/>
              <a:ext cx="69991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3475B"/>
                  </a:solidFill>
                  <a:latin typeface="+mj-lt"/>
                  <a:ea typeface="+mj-ea"/>
                  <a:cs typeface="+mj-cs"/>
                </a:rPr>
                <a:t>P: R1 = 5</a:t>
              </a:r>
              <a:endParaRPr lang="en-US" sz="980" dirty="0">
                <a:solidFill>
                  <a:srgbClr val="33475B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329547" y="2552700"/>
              <a:ext cx="69991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3475B"/>
                  </a:solidFill>
                  <a:latin typeface="+mj-lt"/>
                  <a:ea typeface="+mj-ea"/>
                  <a:cs typeface="+mj-cs"/>
                </a:rPr>
                <a:t>P: R1 = 5</a:t>
              </a:r>
              <a:endParaRPr lang="en-US" sz="980" dirty="0">
                <a:solidFill>
                  <a:srgbClr val="33475B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167438" y="283210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5B3C0"/>
                  </a:solidFill>
                  <a:latin typeface="+mj-lt"/>
                  <a:ea typeface="+mj-ea"/>
                  <a:cs typeface="+mj-cs"/>
                </a:rPr>
                <a:t>2</a:t>
              </a:r>
              <a:endParaRPr lang="zh-CN" sz="900" dirty="0">
                <a:solidFill>
                  <a:srgbClr val="A5B3C0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62547" y="2819400"/>
              <a:ext cx="69991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3475B"/>
                  </a:solidFill>
                  <a:latin typeface="+mj-lt"/>
                  <a:ea typeface="+mj-ea"/>
                  <a:cs typeface="+mj-cs"/>
                </a:rPr>
                <a:t>P: R1 = 6</a:t>
              </a:r>
              <a:endParaRPr lang="en-US" sz="980" dirty="0">
                <a:solidFill>
                  <a:srgbClr val="33475B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29547" y="2819400"/>
              <a:ext cx="69991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3475B"/>
                  </a:solidFill>
                  <a:latin typeface="+mj-lt"/>
                  <a:ea typeface="+mj-ea"/>
                  <a:cs typeface="+mj-cs"/>
                </a:rPr>
                <a:t>C: R2 = 5</a:t>
              </a:r>
              <a:endParaRPr lang="en-US" sz="980" dirty="0">
                <a:solidFill>
                  <a:srgbClr val="33475B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167438" y="309880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5B3C0"/>
                  </a:solidFill>
                  <a:latin typeface="+mj-lt"/>
                  <a:ea typeface="+mj-ea"/>
                  <a:cs typeface="+mj-cs"/>
                </a:rPr>
                <a:t>3</a:t>
              </a:r>
              <a:endParaRPr lang="zh-CN" sz="900" dirty="0">
                <a:solidFill>
                  <a:srgbClr val="A5B3C0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62547" y="3086100"/>
              <a:ext cx="88884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3475B"/>
                  </a:solidFill>
                  <a:latin typeface="+mj-lt"/>
                  <a:ea typeface="+mj-ea"/>
                  <a:cs typeface="+mj-cs"/>
                </a:rPr>
                <a:t>P: count = 6</a:t>
              </a:r>
              <a:endParaRPr lang="en-US" sz="980" dirty="0">
                <a:solidFill>
                  <a:srgbClr val="33475B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29547" y="3086100"/>
              <a:ext cx="69991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3475B"/>
                  </a:solidFill>
                  <a:latin typeface="+mj-lt"/>
                  <a:ea typeface="+mj-ea"/>
                  <a:cs typeface="+mj-cs"/>
                </a:rPr>
                <a:t>P: R1 = 6</a:t>
              </a:r>
              <a:endParaRPr lang="en-US" sz="980" dirty="0">
                <a:solidFill>
                  <a:srgbClr val="33475B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167438" y="336550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5B3C0"/>
                  </a:solidFill>
                  <a:latin typeface="+mj-lt"/>
                  <a:ea typeface="+mj-ea"/>
                  <a:cs typeface="+mj-cs"/>
                </a:rPr>
                <a:t>4</a:t>
              </a:r>
              <a:endParaRPr lang="zh-CN" sz="900" dirty="0">
                <a:solidFill>
                  <a:srgbClr val="A5B3C0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2547" y="3352800"/>
              <a:ext cx="69991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3475B"/>
                  </a:solidFill>
                  <a:latin typeface="+mj-lt"/>
                  <a:ea typeface="+mj-ea"/>
                  <a:cs typeface="+mj-cs"/>
                </a:rPr>
                <a:t>C: R2 = 6</a:t>
              </a:r>
              <a:endParaRPr lang="en-US" sz="980" dirty="0">
                <a:solidFill>
                  <a:srgbClr val="33475B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329547" y="3352800"/>
              <a:ext cx="69991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B23A2E"/>
                  </a:solidFill>
                  <a:latin typeface="+mj-lt"/>
                  <a:ea typeface="+mj-ea"/>
                  <a:cs typeface="+mj-cs"/>
                </a:rPr>
                <a:t>C: R2 = 4</a:t>
              </a:r>
              <a:endParaRPr lang="en-US" sz="980" dirty="0">
                <a:solidFill>
                  <a:srgbClr val="B23A2E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167438" y="363220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5B3C0"/>
                  </a:solidFill>
                  <a:latin typeface="+mj-lt"/>
                  <a:ea typeface="+mj-ea"/>
                  <a:cs typeface="+mj-cs"/>
                </a:rPr>
                <a:t>5</a:t>
              </a:r>
              <a:endParaRPr lang="zh-CN" sz="900" dirty="0">
                <a:solidFill>
                  <a:srgbClr val="A5B3C0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62547" y="3619500"/>
              <a:ext cx="69991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3475B"/>
                  </a:solidFill>
                  <a:latin typeface="+mj-lt"/>
                  <a:ea typeface="+mj-ea"/>
                  <a:cs typeface="+mj-cs"/>
                </a:rPr>
                <a:t>C: R2 = 5</a:t>
              </a:r>
              <a:endParaRPr lang="en-US" sz="980" dirty="0">
                <a:solidFill>
                  <a:srgbClr val="33475B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329547" y="3619500"/>
              <a:ext cx="88884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3475B"/>
                  </a:solidFill>
                  <a:latin typeface="+mj-lt"/>
                  <a:ea typeface="+mj-ea"/>
                  <a:cs typeface="+mj-cs"/>
                </a:rPr>
                <a:t>P: count = 6</a:t>
              </a:r>
              <a:endParaRPr lang="en-US" sz="980" dirty="0">
                <a:solidFill>
                  <a:srgbClr val="33475B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167438" y="389890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5B3C0"/>
                  </a:solidFill>
                  <a:latin typeface="+mj-lt"/>
                  <a:ea typeface="+mj-ea"/>
                  <a:cs typeface="+mj-cs"/>
                </a:rPr>
                <a:t>6</a:t>
              </a:r>
              <a:endParaRPr lang="zh-CN" sz="900" dirty="0">
                <a:solidFill>
                  <a:srgbClr val="A5B3C0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62547" y="3886200"/>
              <a:ext cx="88884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3475B"/>
                  </a:solidFill>
                  <a:latin typeface="+mj-lt"/>
                  <a:ea typeface="+mj-ea"/>
                  <a:cs typeface="+mj-cs"/>
                </a:rPr>
                <a:t>C: count = 5</a:t>
              </a:r>
              <a:endParaRPr lang="en-US" sz="980" dirty="0">
                <a:solidFill>
                  <a:srgbClr val="33475B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329547" y="3886200"/>
              <a:ext cx="88884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B23A2E"/>
                  </a:solidFill>
                  <a:latin typeface="+mj-lt"/>
                  <a:ea typeface="+mj-ea"/>
                  <a:cs typeface="+mj-cs"/>
                </a:rPr>
                <a:t>C: count = 4</a:t>
              </a:r>
              <a:endParaRPr lang="en-US" sz="980" dirty="0">
                <a:solidFill>
                  <a:srgbClr val="B23A2E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4" name="Line 34"/>
            <p:cNvSpPr/>
            <p:nvPr/>
          </p:nvSpPr>
          <p:spPr>
            <a:xfrm>
              <a:off x="6172200" y="419100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rgbClr val="DCE4EC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61785" y="4356100"/>
              <a:ext cx="59626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F7D5B"/>
                  </a:solidFill>
                  <a:latin typeface="+mn-lt"/>
                  <a:ea typeface="+mn-ea"/>
                  <a:cs typeface="+mn-cs"/>
                </a:rPr>
                <a:t>结果是 5</a:t>
              </a:r>
              <a:endParaRPr lang="zh-CN" sz="1200" b="1" dirty="0">
                <a:solidFill>
                  <a:srgbClr val="2F7D5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328785" y="4356100"/>
              <a:ext cx="151066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23A2E"/>
                  </a:solidFill>
                  <a:latin typeface="+mn-lt"/>
                  <a:ea typeface="+mn-ea"/>
                  <a:cs typeface="+mn-cs"/>
                </a:rPr>
                <a:t>结果是 4，少加了一次</a:t>
              </a:r>
              <a:endParaRPr lang="zh-CN" sz="1200" b="1" dirty="0">
                <a:solidFill>
                  <a:srgbClr val="B23A2E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2" name="takeaway"/>
          <p:cNvGrpSpPr/>
          <p:nvPr/>
        </p:nvGrpSpPr>
        <p:grpSpPr>
          <a:xfrm>
            <a:off x="685800" y="4953000"/>
            <a:ext cx="10820400" cy="800100"/>
            <a:chOff x="685800" y="4953000"/>
            <a:chExt cx="10820400" cy="800100"/>
          </a:xfrm>
        </p:grpSpPr>
        <p:sp>
          <p:nvSpPr>
            <p:cNvPr id="38" name="Rectangle 38"/>
            <p:cNvSpPr/>
            <p:nvPr/>
          </p:nvSpPr>
          <p:spPr>
            <a:xfrm>
              <a:off x="685800" y="4953000"/>
              <a:ext cx="10820400" cy="800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E4EC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85800" y="4953000"/>
              <a:ext cx="57150" cy="800100"/>
            </a:xfrm>
            <a:prstGeom prst="rect">
              <a:avLst/>
            </a:prstGeom>
            <a:solidFill>
              <a:srgbClr val="B23A2E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83742" y="5168900"/>
              <a:ext cx="4957445" cy="215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两个进程都读到 5，各自加一后写回，后写的把先写的</a:t>
              </a:r>
              <a:r>
                <a:rPr lang="zh-CN" sz="1400" b="1" dirty="0">
                  <a:solidFill>
                    <a:srgbClr val="B23A2E"/>
                  </a:solidFill>
                  <a:latin typeface="+mn-lt"/>
                  <a:ea typeface="+mn-ea"/>
                  <a:cs typeface="+mn-cs"/>
                </a:rPr>
                <a:t>盖掉了</a:t>
              </a:r>
              <a:r>
                <a:rPr lang="zh-CN" sz="1400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。</a:t>
              </a:r>
              <a:endParaRPr lang="zh-CN" sz="1400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85266" y="5473700"/>
              <a:ext cx="49276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7B"/>
                  </a:solidFill>
                  <a:latin typeface="+mn-lt"/>
                  <a:ea typeface="+mn-ea"/>
                  <a:cs typeface="+mn-cs"/>
                </a:rPr>
                <a:t>所以并发程序的结果和调度顺序有关，必须给 count 的读写加一个约束。</a:t>
              </a:r>
              <a:endParaRPr lang="zh-CN" sz="1200" dirty="0">
                <a:solidFill>
                  <a:srgbClr val="5A6B7B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681038" y="6400800"/>
            <a:ext cx="10829924" cy="184150"/>
            <a:chOff x="681038" y="6400800"/>
            <a:chExt cx="10829924" cy="184150"/>
          </a:xfrm>
        </p:grpSpPr>
        <p:sp>
          <p:nvSpPr>
            <p:cNvPr id="43" name="TextBox 43"/>
            <p:cNvSpPr txBox="1"/>
            <p:nvPr/>
          </p:nvSpPr>
          <p:spPr>
            <a:xfrm>
              <a:off x="681038" y="6400800"/>
              <a:ext cx="187579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A8B9B"/>
                  </a:solidFill>
                  <a:latin typeface="+mn-lt"/>
                  <a:ea typeface="+mn-ea"/>
                  <a:cs typeface="+mn-cs"/>
                </a:rPr>
                <a:t>第 4 章 进程同步 · 课堂回顾</a:t>
              </a:r>
              <a:endParaRPr lang="zh-CN" sz="1200" dirty="0">
                <a:solidFill>
                  <a:srgbClr val="7A8B9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997247" y="6400800"/>
              <a:ext cx="51371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A8B9B"/>
                  </a:solidFill>
                  <a:latin typeface="+mn-lt"/>
                  <a:ea typeface="+mn-ea"/>
                  <a:cs typeface="+mn-cs"/>
                </a:rPr>
                <a:t>05 / 1</a:t>
              </a:r>
              <a:r>
                <a:rPr lang="en-US" altLang="zh-CN" sz="1200" dirty="0">
                  <a:solidFill>
                    <a:srgbClr val="7A8B9B"/>
                  </a:solidFill>
                  <a:latin typeface="+mn-lt"/>
                  <a:ea typeface="+mn-ea"/>
                  <a:cs typeface="+mn-cs"/>
                </a:rPr>
                <a:t>4</a:t>
              </a:r>
              <a:endParaRPr lang="en-US" altLang="zh-CN" sz="1200" dirty="0">
                <a:solidFill>
                  <a:srgbClr val="7A8B9B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72084" y="704850"/>
            <a:ext cx="10834116" cy="866775"/>
            <a:chOff x="672084" y="704850"/>
            <a:chExt cx="10834116" cy="866775"/>
          </a:xfrm>
        </p:grpSpPr>
        <p:sp>
          <p:nvSpPr>
            <p:cNvPr id="2" name="TextBox 2"/>
            <p:cNvSpPr txBox="1"/>
            <p:nvPr/>
          </p:nvSpPr>
          <p:spPr>
            <a:xfrm>
              <a:off x="680847" y="704850"/>
              <a:ext cx="140843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12" dirty="0">
                  <a:solidFill>
                    <a:srgbClr val="1D4E7C"/>
                  </a:solidFill>
                  <a:latin typeface="+mj-lt"/>
                  <a:ea typeface="+mj-ea"/>
                  <a:cs typeface="+mj-cs"/>
                </a:rPr>
                <a:t>BLOOM 02 / 理解</a:t>
              </a:r>
              <a:endParaRPr lang="zh-CN" sz="1200" spc="112" dirty="0">
                <a:solidFill>
                  <a:srgbClr val="1D4E7C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1003300"/>
              <a:ext cx="5287010" cy="492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200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wait 和 signal 到底做了什么</a:t>
              </a:r>
              <a:endParaRPr lang="zh-CN" sz="3200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5621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BD6E0"/>
              </a:solidFill>
            </a:ln>
          </p:spPr>
        </p:sp>
      </p:grpSp>
      <p:grpSp>
        <p:nvGrpSpPr>
          <p:cNvPr id="9" name="struct-code"/>
          <p:cNvGrpSpPr/>
          <p:nvPr/>
        </p:nvGrpSpPr>
        <p:grpSpPr>
          <a:xfrm>
            <a:off x="685800" y="1809750"/>
            <a:ext cx="4457700" cy="1866900"/>
            <a:chOff x="685800" y="1809750"/>
            <a:chExt cx="4457700" cy="1866900"/>
          </a:xfrm>
        </p:grpSpPr>
        <p:sp>
          <p:nvSpPr>
            <p:cNvPr id="6" name="Rectangle 6"/>
            <p:cNvSpPr/>
            <p:nvPr/>
          </p:nvSpPr>
          <p:spPr>
            <a:xfrm>
              <a:off x="685800" y="1809750"/>
              <a:ext cx="4457700" cy="1866900"/>
            </a:xfrm>
            <a:prstGeom prst="rect">
              <a:avLst/>
            </a:prstGeom>
            <a:solidFill>
              <a:srgbClr val="16202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09638" y="2000250"/>
              <a:ext cx="23766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90" dirty="0">
                  <a:solidFill>
                    <a:srgbClr val="8FB3D0"/>
                  </a:solidFill>
                  <a:latin typeface="+mj-lt"/>
                  <a:ea typeface="+mj-ea"/>
                  <a:cs typeface="+mj-cs"/>
                </a:rPr>
                <a:t>记录型信号量 / RECORD SEMAPHORE</a:t>
              </a:r>
              <a:endParaRPr lang="zh-CN" sz="900" spc="90" dirty="0">
                <a:solidFill>
                  <a:srgbClr val="8FB3D0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9066" y="2266950"/>
              <a:ext cx="1704213" cy="9483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050" dirty="0">
                  <a:solidFill>
                    <a:srgbClr val="E8EEF4"/>
                  </a:solidFill>
                  <a:latin typeface="+mj-lt"/>
                  <a:ea typeface="+mj-ea"/>
                  <a:cs typeface="+mj-cs"/>
                </a:rPr>
                <a:t>typedef struct {</a:t>
              </a:r>
              <a:br>
                <a:rPr lang="en-US" sz="1050" dirty="0">
                  <a:solidFill>
                    <a:srgbClr val="E8EEF4"/>
                  </a:solidFill>
                  <a:latin typeface="+mj-lt"/>
                  <a:ea typeface="+mj-ea"/>
                  <a:cs typeface="+mj-cs"/>
                </a:rPr>
              </a:br>
              <a:r>
                <a:rPr lang="zh-CN" sz="1050" dirty="0">
                  <a:solidFill>
                    <a:srgbClr val="E8EEF4"/>
                  </a:solidFill>
                  <a:latin typeface="+mj-lt"/>
                  <a:ea typeface="+mj-ea"/>
                  <a:cs typeface="+mj-cs"/>
                </a:rPr>
                <a:t>int value; // 剩余资源数</a:t>
              </a:r>
              <a:br>
                <a:rPr lang="zh-CN" sz="1050" dirty="0">
                  <a:solidFill>
                    <a:srgbClr val="E8EEF4"/>
                  </a:solidFill>
                  <a:latin typeface="+mj-lt"/>
                  <a:ea typeface="+mj-ea"/>
                  <a:cs typeface="+mj-cs"/>
                </a:rPr>
              </a:br>
              <a:r>
                <a:rPr lang="zh-CN" sz="1050" dirty="0">
                  <a:solidFill>
                    <a:srgbClr val="E8EEF4"/>
                  </a:solidFill>
                  <a:latin typeface="+mj-lt"/>
                  <a:ea typeface="+mj-ea"/>
                  <a:cs typeface="+mj-cs"/>
                </a:rPr>
                <a:t>PCB *list; // 等待队列</a:t>
              </a:r>
              <a:br>
                <a:rPr lang="zh-CN" sz="1050" dirty="0">
                  <a:solidFill>
                    <a:srgbClr val="E8EEF4"/>
                  </a:solidFill>
                  <a:latin typeface="+mj-lt"/>
                  <a:ea typeface="+mj-ea"/>
                  <a:cs typeface="+mj-cs"/>
                </a:rPr>
              </a:br>
              <a:r>
                <a:rPr lang="en-US" sz="1050" dirty="0">
                  <a:solidFill>
                    <a:srgbClr val="E8EEF4"/>
                  </a:solidFill>
                  <a:latin typeface="+mj-lt"/>
                  <a:ea typeface="+mj-ea"/>
                  <a:cs typeface="+mj-cs"/>
                </a:rPr>
                <a:t>} semaphore;</a:t>
              </a:r>
              <a:endParaRPr lang="en-US" sz="1050" dirty="0">
                <a:solidFill>
                  <a:srgbClr val="E8EEF4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2" name="struct-note"/>
          <p:cNvGrpSpPr/>
          <p:nvPr/>
        </p:nvGrpSpPr>
        <p:grpSpPr>
          <a:xfrm>
            <a:off x="680847" y="3943350"/>
            <a:ext cx="3780155" cy="412750"/>
            <a:chOff x="680847" y="3943350"/>
            <a:chExt cx="3780155" cy="412750"/>
          </a:xfrm>
        </p:grpSpPr>
        <p:sp>
          <p:nvSpPr>
            <p:cNvPr id="10" name="TextBox 10"/>
            <p:cNvSpPr txBox="1"/>
            <p:nvPr/>
          </p:nvSpPr>
          <p:spPr>
            <a:xfrm>
              <a:off x="680847" y="3943350"/>
              <a:ext cx="378015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B6C"/>
                  </a:solidFill>
                  <a:latin typeface="+mn-lt"/>
                  <a:ea typeface="+mn-ea"/>
                  <a:cs typeface="+mn-cs"/>
                </a:rPr>
                <a:t>value 是剩余资源数；为负时，绝对值是等待的进程数。</a:t>
              </a:r>
              <a:endParaRPr lang="zh-CN" sz="1200" dirty="0">
                <a:solidFill>
                  <a:srgbClr val="4A5B6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80847" y="4171950"/>
              <a:ext cx="241998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A8B9B"/>
                  </a:solidFill>
                  <a:latin typeface="+mn-lt"/>
                  <a:ea typeface="+mn-ea"/>
                  <a:cs typeface="+mn-cs"/>
                </a:rPr>
                <a:t>只能通过初始化和 P、V 操作访问。</a:t>
              </a:r>
              <a:endParaRPr lang="zh-CN" sz="1200" dirty="0">
                <a:solidFill>
                  <a:srgbClr val="7A8B9B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5" name="trace"/>
          <p:cNvGrpSpPr/>
          <p:nvPr/>
        </p:nvGrpSpPr>
        <p:grpSpPr>
          <a:xfrm>
            <a:off x="5329047" y="1936750"/>
            <a:ext cx="6177153" cy="2217293"/>
            <a:chOff x="5329047" y="1936750"/>
            <a:chExt cx="6177153" cy="2217293"/>
          </a:xfrm>
        </p:grpSpPr>
        <p:sp>
          <p:nvSpPr>
            <p:cNvPr id="13" name="TextBox 13"/>
            <p:cNvSpPr txBox="1"/>
            <p:nvPr/>
          </p:nvSpPr>
          <p:spPr>
            <a:xfrm>
              <a:off x="5329238" y="1936750"/>
              <a:ext cx="294513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90" dirty="0">
                  <a:solidFill>
                    <a:srgbClr val="8A9BAB"/>
                  </a:solidFill>
                  <a:latin typeface="+mj-lt"/>
                  <a:ea typeface="+mj-ea"/>
                  <a:cs typeface="+mj-cs"/>
                </a:rPr>
                <a:t>TRACE / S 初值 1，三个进程先后申请</a:t>
              </a:r>
              <a:endParaRPr lang="zh-CN" sz="1200" spc="90" dirty="0">
                <a:solidFill>
                  <a:srgbClr val="8A9BAB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329047" y="224790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A6B7B"/>
                  </a:solidFill>
                  <a:latin typeface="+mn-lt"/>
                  <a:ea typeface="+mn-ea"/>
                  <a:cs typeface="+mn-cs"/>
                </a:rPr>
                <a:t>时刻</a:t>
              </a:r>
              <a:endParaRPr lang="zh-CN" sz="980" b="1" dirty="0">
                <a:solidFill>
                  <a:srgbClr val="5A6B7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767197" y="224790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A6B7B"/>
                  </a:solidFill>
                  <a:latin typeface="+mn-lt"/>
                  <a:ea typeface="+mn-ea"/>
                  <a:cs typeface="+mn-cs"/>
                </a:rPr>
                <a:t>进程</a:t>
              </a:r>
              <a:endParaRPr lang="zh-CN" sz="980" b="1" dirty="0">
                <a:solidFill>
                  <a:srgbClr val="5A6B7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81547" y="224790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A6B7B"/>
                  </a:solidFill>
                  <a:latin typeface="+mn-lt"/>
                  <a:ea typeface="+mn-ea"/>
                  <a:cs typeface="+mn-cs"/>
                </a:rPr>
                <a:t>操作</a:t>
              </a:r>
              <a:endParaRPr lang="zh-CN" sz="980" b="1" dirty="0">
                <a:solidFill>
                  <a:srgbClr val="5A6B7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19797" y="2247900"/>
              <a:ext cx="51329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A6B7B"/>
                  </a:solidFill>
                  <a:latin typeface="+mn-lt"/>
                  <a:ea typeface="+mn-ea"/>
                  <a:cs typeface="+mn-cs"/>
                </a:rPr>
                <a:t>S.value</a:t>
              </a:r>
              <a:endParaRPr lang="en-US" sz="980" b="1" dirty="0">
                <a:solidFill>
                  <a:srgbClr val="5A6B7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77047" y="224790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A6B7B"/>
                  </a:solidFill>
                  <a:latin typeface="+mn-lt"/>
                  <a:ea typeface="+mn-ea"/>
                  <a:cs typeface="+mn-cs"/>
                </a:rPr>
                <a:t>结果</a:t>
              </a:r>
              <a:endParaRPr lang="zh-CN" sz="980" b="1" dirty="0">
                <a:solidFill>
                  <a:srgbClr val="5A6B7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Line 19"/>
            <p:cNvSpPr/>
            <p:nvPr/>
          </p:nvSpPr>
          <p:spPr>
            <a:xfrm>
              <a:off x="5334000" y="2476500"/>
              <a:ext cx="6172200" cy="9525"/>
            </a:xfrm>
            <a:custGeom>
              <a:avLst/>
              <a:gdLst/>
              <a:ahLst/>
              <a:cxnLst/>
              <a:rect l="l" t="t" r="r" b="b"/>
              <a:pathLst>
                <a:path w="6172200" h="9525">
                  <a:moveTo>
                    <a:pt x="0" y="0"/>
                  </a:moveTo>
                  <a:lnTo>
                    <a:pt x="6172200" y="0"/>
                  </a:lnTo>
                </a:path>
              </a:pathLst>
            </a:custGeom>
            <a:noFill/>
            <a:ln w="9525">
              <a:solidFill>
                <a:srgbClr val="DCE4EC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329238" y="267970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5B3C0"/>
                  </a:solidFill>
                  <a:latin typeface="+mj-lt"/>
                  <a:ea typeface="+mj-ea"/>
                  <a:cs typeface="+mj-cs"/>
                </a:rPr>
                <a:t>1</a:t>
              </a:r>
              <a:endParaRPr lang="zh-CN" sz="900" dirty="0">
                <a:solidFill>
                  <a:srgbClr val="A5B3C0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767197" y="2667000"/>
              <a:ext cx="16324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3475B"/>
                  </a:solidFill>
                  <a:latin typeface="+mj-lt"/>
                  <a:ea typeface="+mj-ea"/>
                  <a:cs typeface="+mj-cs"/>
                </a:rPr>
                <a:t>P1</a:t>
              </a:r>
              <a:endParaRPr lang="en-US" sz="980" dirty="0">
                <a:solidFill>
                  <a:srgbClr val="33475B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81547" y="2667000"/>
              <a:ext cx="30014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3475B"/>
                  </a:solidFill>
                  <a:latin typeface="+mj-lt"/>
                  <a:ea typeface="+mj-ea"/>
                  <a:cs typeface="+mj-cs"/>
                </a:rPr>
                <a:t>wait</a:t>
              </a:r>
              <a:endParaRPr lang="en-US" sz="980" dirty="0">
                <a:solidFill>
                  <a:srgbClr val="33475B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19797" y="2667000"/>
              <a:ext cx="37270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3475B"/>
                  </a:solidFill>
                  <a:latin typeface="+mj-lt"/>
                  <a:ea typeface="+mj-ea"/>
                  <a:cs typeface="+mj-cs"/>
                </a:rPr>
                <a:t>1 → 0</a:t>
              </a:r>
              <a:endParaRPr lang="zh-CN" sz="980" dirty="0">
                <a:solidFill>
                  <a:srgbClr val="33475B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7047" y="2667000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3475B"/>
                  </a:solidFill>
                  <a:latin typeface="+mn-lt"/>
                  <a:ea typeface="+mn-ea"/>
                  <a:cs typeface="+mn-cs"/>
                </a:rPr>
                <a:t>进入临界区</a:t>
              </a:r>
              <a:endParaRPr lang="zh-CN" sz="980" dirty="0">
                <a:solidFill>
                  <a:srgbClr val="33475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329238" y="300355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5B3C0"/>
                  </a:solidFill>
                  <a:latin typeface="+mj-lt"/>
                  <a:ea typeface="+mj-ea"/>
                  <a:cs typeface="+mj-cs"/>
                </a:rPr>
                <a:t>2</a:t>
              </a:r>
              <a:endParaRPr lang="zh-CN" sz="900" dirty="0">
                <a:solidFill>
                  <a:srgbClr val="A5B3C0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767197" y="2990850"/>
              <a:ext cx="16324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3475B"/>
                  </a:solidFill>
                  <a:latin typeface="+mj-lt"/>
                  <a:ea typeface="+mj-ea"/>
                  <a:cs typeface="+mj-cs"/>
                </a:rPr>
                <a:t>P2</a:t>
              </a:r>
              <a:endParaRPr lang="en-US" sz="980" dirty="0">
                <a:solidFill>
                  <a:srgbClr val="33475B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81547" y="2990850"/>
              <a:ext cx="30014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3475B"/>
                  </a:solidFill>
                  <a:latin typeface="+mj-lt"/>
                  <a:ea typeface="+mj-ea"/>
                  <a:cs typeface="+mj-cs"/>
                </a:rPr>
                <a:t>wait</a:t>
              </a:r>
              <a:endParaRPr lang="en-US" sz="980" dirty="0">
                <a:solidFill>
                  <a:srgbClr val="33475B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19797" y="2990850"/>
              <a:ext cx="44526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3475B"/>
                  </a:solidFill>
                  <a:latin typeface="+mj-lt"/>
                  <a:ea typeface="+mj-ea"/>
                  <a:cs typeface="+mj-cs"/>
                </a:rPr>
                <a:t>0 → -1</a:t>
              </a:r>
              <a:endParaRPr lang="zh-CN" sz="980" dirty="0">
                <a:solidFill>
                  <a:srgbClr val="33475B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77047" y="299085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B23A2E"/>
                  </a:solidFill>
                  <a:latin typeface="+mn-lt"/>
                  <a:ea typeface="+mn-ea"/>
                  <a:cs typeface="+mn-cs"/>
                </a:rPr>
                <a:t>阻塞，进等待队列</a:t>
              </a:r>
              <a:endParaRPr lang="zh-CN" sz="980" dirty="0">
                <a:solidFill>
                  <a:srgbClr val="B23A2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29238" y="332740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5B3C0"/>
                  </a:solidFill>
                  <a:latin typeface="+mj-lt"/>
                  <a:ea typeface="+mj-ea"/>
                  <a:cs typeface="+mj-cs"/>
                </a:rPr>
                <a:t>3</a:t>
              </a:r>
              <a:endParaRPr lang="zh-CN" sz="900" dirty="0">
                <a:solidFill>
                  <a:srgbClr val="A5B3C0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767197" y="3314700"/>
              <a:ext cx="16324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3475B"/>
                  </a:solidFill>
                  <a:latin typeface="+mj-lt"/>
                  <a:ea typeface="+mj-ea"/>
                  <a:cs typeface="+mj-cs"/>
                </a:rPr>
                <a:t>P3</a:t>
              </a:r>
              <a:endParaRPr lang="en-US" sz="980" dirty="0">
                <a:solidFill>
                  <a:srgbClr val="33475B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81547" y="3314700"/>
              <a:ext cx="30014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3475B"/>
                  </a:solidFill>
                  <a:latin typeface="+mj-lt"/>
                  <a:ea typeface="+mj-ea"/>
                  <a:cs typeface="+mj-cs"/>
                </a:rPr>
                <a:t>wait</a:t>
              </a:r>
              <a:endParaRPr lang="en-US" sz="980" dirty="0">
                <a:solidFill>
                  <a:srgbClr val="33475B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19797" y="3314700"/>
              <a:ext cx="5178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3475B"/>
                  </a:solidFill>
                  <a:latin typeface="+mj-lt"/>
                  <a:ea typeface="+mj-ea"/>
                  <a:cs typeface="+mj-cs"/>
                </a:rPr>
                <a:t>-1 → -2</a:t>
              </a:r>
              <a:endParaRPr lang="zh-CN" sz="980" dirty="0">
                <a:solidFill>
                  <a:srgbClr val="33475B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77047" y="331470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B23A2E"/>
                  </a:solidFill>
                  <a:latin typeface="+mn-lt"/>
                  <a:ea typeface="+mn-ea"/>
                  <a:cs typeface="+mn-cs"/>
                </a:rPr>
                <a:t>阻塞，进等待队列</a:t>
              </a:r>
              <a:endParaRPr lang="zh-CN" sz="980" dirty="0">
                <a:solidFill>
                  <a:srgbClr val="B23A2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329238" y="365125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5B3C0"/>
                  </a:solidFill>
                  <a:latin typeface="+mj-lt"/>
                  <a:ea typeface="+mj-ea"/>
                  <a:cs typeface="+mj-cs"/>
                </a:rPr>
                <a:t>4</a:t>
              </a:r>
              <a:endParaRPr lang="zh-CN" sz="900" dirty="0">
                <a:solidFill>
                  <a:srgbClr val="A5B3C0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767197" y="3638550"/>
              <a:ext cx="16324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3475B"/>
                  </a:solidFill>
                  <a:latin typeface="+mj-lt"/>
                  <a:ea typeface="+mj-ea"/>
                  <a:cs typeface="+mj-cs"/>
                </a:rPr>
                <a:t>P1</a:t>
              </a:r>
              <a:endParaRPr lang="en-US" sz="980" dirty="0">
                <a:solidFill>
                  <a:srgbClr val="33475B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81547" y="3638550"/>
              <a:ext cx="44526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3475B"/>
                  </a:solidFill>
                  <a:latin typeface="+mj-lt"/>
                  <a:ea typeface="+mj-ea"/>
                  <a:cs typeface="+mj-cs"/>
                </a:rPr>
                <a:t>signal</a:t>
              </a:r>
              <a:endParaRPr lang="en-US" sz="980" dirty="0">
                <a:solidFill>
                  <a:srgbClr val="33475B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19797" y="3638550"/>
              <a:ext cx="5178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3475B"/>
                  </a:solidFill>
                  <a:latin typeface="+mj-lt"/>
                  <a:ea typeface="+mj-ea"/>
                  <a:cs typeface="+mj-cs"/>
                </a:rPr>
                <a:t>-2 → -1</a:t>
              </a:r>
              <a:endParaRPr lang="zh-CN" sz="980" dirty="0">
                <a:solidFill>
                  <a:srgbClr val="33475B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77047" y="363855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2F7D5B"/>
                  </a:solidFill>
                  <a:latin typeface="+mn-lt"/>
                  <a:ea typeface="+mn-ea"/>
                  <a:cs typeface="+mn-cs"/>
                </a:rPr>
                <a:t>唤醒队首进程</a:t>
              </a:r>
              <a:endParaRPr lang="zh-CN" sz="980" dirty="0">
                <a:solidFill>
                  <a:srgbClr val="2F7D5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329238" y="397510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5B3C0"/>
                  </a:solidFill>
                  <a:latin typeface="+mj-lt"/>
                  <a:ea typeface="+mj-ea"/>
                  <a:cs typeface="+mj-cs"/>
                </a:rPr>
                <a:t>5</a:t>
              </a:r>
              <a:endParaRPr lang="zh-CN" sz="900" dirty="0">
                <a:solidFill>
                  <a:srgbClr val="A5B3C0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767197" y="3962400"/>
              <a:ext cx="16324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3475B"/>
                  </a:solidFill>
                  <a:latin typeface="+mj-lt"/>
                  <a:ea typeface="+mj-ea"/>
                  <a:cs typeface="+mj-cs"/>
                </a:rPr>
                <a:t>P2</a:t>
              </a:r>
              <a:endParaRPr lang="en-US" sz="980" dirty="0">
                <a:solidFill>
                  <a:srgbClr val="33475B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81547" y="396240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3475B"/>
                  </a:solidFill>
                  <a:latin typeface="+mj-lt"/>
                  <a:ea typeface="+mj-ea"/>
                  <a:cs typeface="+mj-cs"/>
                </a:rPr>
                <a:t>继续</a:t>
              </a:r>
              <a:endParaRPr lang="zh-CN" sz="980" dirty="0">
                <a:solidFill>
                  <a:srgbClr val="33475B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19797" y="3962400"/>
              <a:ext cx="44526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3475B"/>
                  </a:solidFill>
                  <a:latin typeface="+mj-lt"/>
                  <a:ea typeface="+mj-ea"/>
                  <a:cs typeface="+mj-cs"/>
                </a:rPr>
                <a:t>-1 → 0</a:t>
              </a:r>
              <a:endParaRPr lang="zh-CN" sz="980" dirty="0">
                <a:solidFill>
                  <a:srgbClr val="33475B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77047" y="396240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3475B"/>
                  </a:solidFill>
                  <a:latin typeface="+mn-lt"/>
                  <a:ea typeface="+mn-ea"/>
                  <a:cs typeface="+mn-cs"/>
                </a:rPr>
                <a:t>被唤醒后进入</a:t>
              </a:r>
              <a:endParaRPr lang="zh-CN" sz="980" dirty="0">
                <a:solidFill>
                  <a:srgbClr val="33475B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0" name="takeaway"/>
          <p:cNvGrpSpPr/>
          <p:nvPr/>
        </p:nvGrpSpPr>
        <p:grpSpPr>
          <a:xfrm>
            <a:off x="685800" y="4762500"/>
            <a:ext cx="10820400" cy="914400"/>
            <a:chOff x="685800" y="4762500"/>
            <a:chExt cx="10820400" cy="914400"/>
          </a:xfrm>
        </p:grpSpPr>
        <p:sp>
          <p:nvSpPr>
            <p:cNvPr id="46" name="Rectangle 46"/>
            <p:cNvSpPr/>
            <p:nvPr/>
          </p:nvSpPr>
          <p:spPr>
            <a:xfrm>
              <a:off x="685800" y="4762500"/>
              <a:ext cx="108204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E4EC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85800" y="4762500"/>
              <a:ext cx="57150" cy="914400"/>
            </a:xfrm>
            <a:prstGeom prst="rect">
              <a:avLst/>
            </a:prstGeom>
            <a:solidFill>
              <a:srgbClr val="2F7D5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83742" y="4978400"/>
              <a:ext cx="5090795" cy="215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整型信号量在 while (S &lt;= 0) 里反复判断，进程一直占着 CPU。</a:t>
              </a:r>
              <a:endParaRPr lang="zh-CN" sz="1400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85266" y="5302250"/>
              <a:ext cx="432816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7B"/>
                  </a:solidFill>
                  <a:latin typeface="+mn-lt"/>
                  <a:ea typeface="+mn-ea"/>
                  <a:cs typeface="+mn-cs"/>
                </a:rPr>
                <a:t>记录型把进程放进等待队列，由 signal 唤醒，这就是让权等待。</a:t>
              </a:r>
              <a:endParaRPr lang="zh-CN" sz="1200" dirty="0">
                <a:solidFill>
                  <a:srgbClr val="5A6B7B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681038" y="6400800"/>
            <a:ext cx="10829924" cy="184150"/>
            <a:chOff x="681038" y="6400800"/>
            <a:chExt cx="10829924" cy="184150"/>
          </a:xfrm>
        </p:grpSpPr>
        <p:sp>
          <p:nvSpPr>
            <p:cNvPr id="51" name="TextBox 51"/>
            <p:cNvSpPr txBox="1"/>
            <p:nvPr/>
          </p:nvSpPr>
          <p:spPr>
            <a:xfrm>
              <a:off x="681038" y="6400800"/>
              <a:ext cx="187579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A8B9B"/>
                  </a:solidFill>
                  <a:latin typeface="+mn-lt"/>
                  <a:ea typeface="+mn-ea"/>
                  <a:cs typeface="+mn-cs"/>
                </a:rPr>
                <a:t>第 4 章 进程同步 · 课堂回顾</a:t>
              </a:r>
              <a:endParaRPr lang="zh-CN" sz="1200" dirty="0">
                <a:solidFill>
                  <a:srgbClr val="7A8B9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997247" y="6400800"/>
              <a:ext cx="51371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A8B9B"/>
                  </a:solidFill>
                  <a:latin typeface="+mn-lt"/>
                  <a:ea typeface="+mn-ea"/>
                  <a:cs typeface="+mn-cs"/>
                </a:rPr>
                <a:t>06 / 1</a:t>
              </a:r>
              <a:r>
                <a:rPr lang="en-US" altLang="zh-CN" sz="1200" dirty="0">
                  <a:solidFill>
                    <a:srgbClr val="7A8B9B"/>
                  </a:solidFill>
                  <a:latin typeface="+mn-lt"/>
                  <a:ea typeface="+mn-ea"/>
                  <a:cs typeface="+mn-cs"/>
                </a:rPr>
                <a:t>4</a:t>
              </a:r>
              <a:endParaRPr lang="en-US" altLang="zh-CN" sz="1200" dirty="0">
                <a:solidFill>
                  <a:srgbClr val="7A8B9B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72084" y="704850"/>
            <a:ext cx="10834116" cy="866775"/>
            <a:chOff x="672084" y="704850"/>
            <a:chExt cx="10834116" cy="866775"/>
          </a:xfrm>
        </p:grpSpPr>
        <p:sp>
          <p:nvSpPr>
            <p:cNvPr id="2" name="TextBox 2"/>
            <p:cNvSpPr txBox="1"/>
            <p:nvPr/>
          </p:nvSpPr>
          <p:spPr>
            <a:xfrm>
              <a:off x="680847" y="704850"/>
              <a:ext cx="140843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12" dirty="0">
                  <a:solidFill>
                    <a:srgbClr val="1D4E7C"/>
                  </a:solidFill>
                  <a:latin typeface="+mj-lt"/>
                  <a:ea typeface="+mj-ea"/>
                  <a:cs typeface="+mj-cs"/>
                </a:rPr>
                <a:t>BLOOM 03 / 应用</a:t>
              </a:r>
              <a:endParaRPr lang="zh-CN" sz="1200" spc="112" dirty="0">
                <a:solidFill>
                  <a:srgbClr val="1D4E7C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1003300"/>
              <a:ext cx="5053965" cy="492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200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生产者-消费者的三个信号量</a:t>
              </a:r>
              <a:endParaRPr lang="zh-CN" sz="3200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5621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BD6E0"/>
              </a:solidFill>
            </a:ln>
          </p:spPr>
        </p:sp>
      </p:grpSp>
      <p:grpSp>
        <p:nvGrpSpPr>
          <p:cNvPr id="16" name="code-pc"/>
          <p:cNvGrpSpPr/>
          <p:nvPr/>
        </p:nvGrpSpPr>
        <p:grpSpPr>
          <a:xfrm>
            <a:off x="685800" y="1809750"/>
            <a:ext cx="5029200" cy="2819400"/>
            <a:chOff x="685800" y="1809750"/>
            <a:chExt cx="5029200" cy="2819400"/>
          </a:xfrm>
        </p:grpSpPr>
        <p:sp>
          <p:nvSpPr>
            <p:cNvPr id="6" name="Rectangle 6"/>
            <p:cNvSpPr/>
            <p:nvPr/>
          </p:nvSpPr>
          <p:spPr>
            <a:xfrm>
              <a:off x="685800" y="1809750"/>
              <a:ext cx="5029200" cy="2819400"/>
            </a:xfrm>
            <a:prstGeom prst="rect">
              <a:avLst/>
            </a:prstGeom>
            <a:solidFill>
              <a:srgbClr val="16202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09638" y="2000250"/>
              <a:ext cx="23597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90" dirty="0">
                  <a:solidFill>
                    <a:srgbClr val="8FB3D0"/>
                  </a:solidFill>
                  <a:latin typeface="+mj-lt"/>
                  <a:ea typeface="+mj-ea"/>
                  <a:cs typeface="+mj-cs"/>
                </a:rPr>
                <a:t>PRODUCER / CONSUMER · 两个进程</a:t>
              </a:r>
              <a:endParaRPr lang="zh-CN" sz="900" spc="90" dirty="0">
                <a:solidFill>
                  <a:srgbClr val="8FB3D0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9066" y="2368550"/>
              <a:ext cx="6679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FB3D0"/>
                  </a:solidFill>
                  <a:latin typeface="+mj-lt"/>
                  <a:ea typeface="+mj-ea"/>
                  <a:cs typeface="+mj-cs"/>
                </a:rPr>
                <a:t>// 生产者</a:t>
              </a:r>
              <a:endParaRPr lang="zh-CN" sz="1050" dirty="0">
                <a:solidFill>
                  <a:srgbClr val="8FB3D0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9066" y="2635250"/>
              <a:ext cx="19542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8EEF4"/>
                  </a:solidFill>
                  <a:latin typeface="+mj-lt"/>
                  <a:ea typeface="+mj-ea"/>
                  <a:cs typeface="+mj-cs"/>
                </a:rPr>
                <a:t>wait(empty); wait(mutex);</a:t>
              </a:r>
              <a:endParaRPr lang="en-US" sz="1050" dirty="0">
                <a:solidFill>
                  <a:srgbClr val="E8EEF4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9066" y="2901950"/>
              <a:ext cx="27316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8EEF4"/>
                  </a:solidFill>
                  <a:latin typeface="+mj-lt"/>
                  <a:ea typeface="+mj-ea"/>
                  <a:cs typeface="+mj-cs"/>
                </a:rPr>
                <a:t>buffer[in] = item; in = (in+1) % n;</a:t>
              </a:r>
              <a:endParaRPr lang="en-US" sz="1050" dirty="0">
                <a:solidFill>
                  <a:srgbClr val="E8EEF4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9066" y="3168650"/>
              <a:ext cx="21874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8EEF4"/>
                  </a:solidFill>
                  <a:latin typeface="+mj-lt"/>
                  <a:ea typeface="+mj-ea"/>
                  <a:cs typeface="+mj-cs"/>
                </a:rPr>
                <a:t>signal(mutex); signal(full);</a:t>
              </a:r>
              <a:endParaRPr lang="en-US" sz="1050" dirty="0">
                <a:solidFill>
                  <a:srgbClr val="E8EEF4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9066" y="3587750"/>
              <a:ext cx="6679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FB3D0"/>
                  </a:solidFill>
                  <a:latin typeface="+mj-lt"/>
                  <a:ea typeface="+mj-ea"/>
                  <a:cs typeface="+mj-cs"/>
                </a:rPr>
                <a:t>// 消费者</a:t>
              </a:r>
              <a:endParaRPr lang="zh-CN" sz="1050" dirty="0">
                <a:solidFill>
                  <a:srgbClr val="8FB3D0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9066" y="3854450"/>
              <a:ext cx="18765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8EEF4"/>
                  </a:solidFill>
                  <a:latin typeface="+mj-lt"/>
                  <a:ea typeface="+mj-ea"/>
                  <a:cs typeface="+mj-cs"/>
                </a:rPr>
                <a:t>wait(full); wait(mutex);</a:t>
              </a:r>
              <a:endParaRPr lang="en-US" sz="1050" dirty="0">
                <a:solidFill>
                  <a:srgbClr val="E8EEF4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9066" y="4121150"/>
              <a:ext cx="29649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8EEF4"/>
                  </a:solidFill>
                  <a:latin typeface="+mj-lt"/>
                  <a:ea typeface="+mj-ea"/>
                  <a:cs typeface="+mj-cs"/>
                </a:rPr>
                <a:t>item = buffer[out]; out = (out+1) % n;</a:t>
              </a:r>
              <a:endParaRPr lang="en-US" sz="1050" dirty="0">
                <a:solidFill>
                  <a:srgbClr val="E8EEF4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9066" y="4387850"/>
              <a:ext cx="22652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8EEF4"/>
                  </a:solidFill>
                  <a:latin typeface="+mj-lt"/>
                  <a:ea typeface="+mj-ea"/>
                  <a:cs typeface="+mj-cs"/>
                </a:rPr>
                <a:t>signal(mutex); signal(empty);</a:t>
              </a:r>
              <a:endParaRPr lang="en-US" sz="1050" dirty="0">
                <a:solidFill>
                  <a:srgbClr val="E8EEF4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21" name="sig-empty"/>
          <p:cNvGrpSpPr/>
          <p:nvPr/>
        </p:nvGrpSpPr>
        <p:grpSpPr>
          <a:xfrm>
            <a:off x="6019800" y="1809750"/>
            <a:ext cx="5486400" cy="742950"/>
            <a:chOff x="6019800" y="1809750"/>
            <a:chExt cx="5486400" cy="742950"/>
          </a:xfrm>
        </p:grpSpPr>
        <p:sp>
          <p:nvSpPr>
            <p:cNvPr id="17" name="Rectangle 17"/>
            <p:cNvSpPr/>
            <p:nvPr/>
          </p:nvSpPr>
          <p:spPr>
            <a:xfrm>
              <a:off x="6019800" y="1809750"/>
              <a:ext cx="5486400" cy="7429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E4EC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019800" y="1809750"/>
              <a:ext cx="57150" cy="742950"/>
            </a:xfrm>
            <a:prstGeom prst="rect">
              <a:avLst/>
            </a:prstGeom>
            <a:solidFill>
              <a:srgbClr val="1D4E7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9642" y="2006600"/>
              <a:ext cx="880110" cy="215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00" dirty="0">
                  <a:solidFill>
                    <a:srgbClr val="1D4E7C"/>
                  </a:solidFill>
                  <a:latin typeface="+mj-lt"/>
                  <a:ea typeface="+mj-ea"/>
                  <a:cs typeface="+mj-cs"/>
                </a:rPr>
                <a:t>empty = n</a:t>
              </a:r>
              <a:endParaRPr lang="en-US" sz="1400" dirty="0">
                <a:solidFill>
                  <a:srgbClr val="1D4E7C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81547" y="2286000"/>
              <a:ext cx="39624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B6C"/>
                  </a:solidFill>
                  <a:latin typeface="+mn-lt"/>
                  <a:ea typeface="+mn-ea"/>
                  <a:cs typeface="+mn-cs"/>
                </a:rPr>
                <a:t>空缓冲区数量。生产者先等它，放完一个由消费者加回来。</a:t>
              </a:r>
              <a:endParaRPr lang="zh-CN" sz="1200" dirty="0">
                <a:solidFill>
                  <a:srgbClr val="4A5B6C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6" name="sig-full"/>
          <p:cNvGrpSpPr/>
          <p:nvPr/>
        </p:nvGrpSpPr>
        <p:grpSpPr>
          <a:xfrm>
            <a:off x="6019800" y="2724150"/>
            <a:ext cx="5486400" cy="742950"/>
            <a:chOff x="6019800" y="2724150"/>
            <a:chExt cx="5486400" cy="742950"/>
          </a:xfrm>
        </p:grpSpPr>
        <p:sp>
          <p:nvSpPr>
            <p:cNvPr id="22" name="Rectangle 22"/>
            <p:cNvSpPr/>
            <p:nvPr/>
          </p:nvSpPr>
          <p:spPr>
            <a:xfrm>
              <a:off x="6019800" y="2724150"/>
              <a:ext cx="5486400" cy="7429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E4EC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19800" y="2724150"/>
              <a:ext cx="57150" cy="742950"/>
            </a:xfrm>
            <a:prstGeom prst="rect">
              <a:avLst/>
            </a:prstGeom>
            <a:solidFill>
              <a:srgbClr val="C9A22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79642" y="2921000"/>
              <a:ext cx="782320" cy="215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00" dirty="0">
                  <a:solidFill>
                    <a:srgbClr val="8A6D12"/>
                  </a:solidFill>
                  <a:latin typeface="+mj-lt"/>
                  <a:ea typeface="+mj-ea"/>
                  <a:cs typeface="+mj-cs"/>
                </a:rPr>
                <a:t>full = 0</a:t>
              </a:r>
              <a:endParaRPr lang="en-US" sz="1400" dirty="0">
                <a:solidFill>
                  <a:srgbClr val="8A6D1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81547" y="3200400"/>
              <a:ext cx="39624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B6C"/>
                  </a:solidFill>
                  <a:latin typeface="+mn-lt"/>
                  <a:ea typeface="+mn-ea"/>
                  <a:cs typeface="+mn-cs"/>
                </a:rPr>
                <a:t>满缓冲区数量。消费者先等它，取走一个由生产者加回来。</a:t>
              </a:r>
              <a:endParaRPr lang="zh-CN" sz="1200" dirty="0">
                <a:solidFill>
                  <a:srgbClr val="4A5B6C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" name="sig-mutex"/>
          <p:cNvGrpSpPr/>
          <p:nvPr/>
        </p:nvGrpSpPr>
        <p:grpSpPr>
          <a:xfrm>
            <a:off x="6019800" y="3638550"/>
            <a:ext cx="5486400" cy="742950"/>
            <a:chOff x="6019800" y="3638550"/>
            <a:chExt cx="5486400" cy="742950"/>
          </a:xfrm>
        </p:grpSpPr>
        <p:sp>
          <p:nvSpPr>
            <p:cNvPr id="27" name="Rectangle 27"/>
            <p:cNvSpPr/>
            <p:nvPr/>
          </p:nvSpPr>
          <p:spPr>
            <a:xfrm>
              <a:off x="6019800" y="3638550"/>
              <a:ext cx="5486400" cy="7429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E4EC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019800" y="3638550"/>
              <a:ext cx="57150" cy="742950"/>
            </a:xfrm>
            <a:prstGeom prst="rect">
              <a:avLst/>
            </a:prstGeom>
            <a:solidFill>
              <a:srgbClr val="5A6B7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79642" y="3835400"/>
              <a:ext cx="880110" cy="215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00" dirty="0">
                  <a:solidFill>
                    <a:srgbClr val="16202B"/>
                  </a:solidFill>
                  <a:latin typeface="+mj-lt"/>
                  <a:ea typeface="+mj-ea"/>
                  <a:cs typeface="+mj-cs"/>
                </a:rPr>
                <a:t>mutex = 1</a:t>
              </a:r>
              <a:endParaRPr lang="en-US" sz="1400" dirty="0">
                <a:solidFill>
                  <a:srgbClr val="16202B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81547" y="4114800"/>
              <a:ext cx="325818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B6C"/>
                  </a:solidFill>
                  <a:latin typeface="+mn-lt"/>
                  <a:ea typeface="+mn-ea"/>
                  <a:cs typeface="+mn-cs"/>
                </a:rPr>
                <a:t>缓冲池互斥。进临界区前 wait，出来后 signal。</a:t>
              </a:r>
              <a:endParaRPr lang="zh-CN" sz="1200" dirty="0">
                <a:solidFill>
                  <a:srgbClr val="4A5B6C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6" name="trap"/>
          <p:cNvGrpSpPr/>
          <p:nvPr/>
        </p:nvGrpSpPr>
        <p:grpSpPr>
          <a:xfrm>
            <a:off x="685800" y="4762500"/>
            <a:ext cx="10820400" cy="914400"/>
            <a:chOff x="685800" y="4762500"/>
            <a:chExt cx="10820400" cy="914400"/>
          </a:xfrm>
        </p:grpSpPr>
        <p:sp>
          <p:nvSpPr>
            <p:cNvPr id="32" name="Rectangle 32"/>
            <p:cNvSpPr/>
            <p:nvPr/>
          </p:nvSpPr>
          <p:spPr>
            <a:xfrm>
              <a:off x="685800" y="4762500"/>
              <a:ext cx="108204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E4EC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85800" y="4762500"/>
              <a:ext cx="57150" cy="914400"/>
            </a:xfrm>
            <a:prstGeom prst="rect">
              <a:avLst/>
            </a:prstGeom>
            <a:solidFill>
              <a:srgbClr val="B23A2E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83742" y="4959350"/>
              <a:ext cx="4062730" cy="215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B23A2E"/>
                  </a:solidFill>
                  <a:latin typeface="+mn-lt"/>
                  <a:ea typeface="+mn-ea"/>
                  <a:cs typeface="+mn-cs"/>
                </a:rPr>
                <a:t>顺序不能反：先 wait(empty)，再 wait(mutex)。</a:t>
              </a:r>
              <a:endParaRPr lang="zh-CN" sz="1400" b="1" dirty="0">
                <a:solidFill>
                  <a:srgbClr val="B23A2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85266" y="5302250"/>
              <a:ext cx="62484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7B"/>
                  </a:solidFill>
                  <a:latin typeface="+mn-lt"/>
                  <a:ea typeface="+mn-ea"/>
                  <a:cs typeface="+mn-cs"/>
                </a:rPr>
                <a:t>如果先拿锁再等空位，缓冲区满时生产者会带着锁睡眠，消费者拿不到锁，两个进程都卡住。</a:t>
              </a:r>
              <a:endParaRPr lang="zh-CN" sz="1200" dirty="0">
                <a:solidFill>
                  <a:srgbClr val="5A6B7B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681038" y="6400800"/>
            <a:ext cx="10829924" cy="184150"/>
            <a:chOff x="681038" y="6400800"/>
            <a:chExt cx="10829924" cy="184150"/>
          </a:xfrm>
        </p:grpSpPr>
        <p:sp>
          <p:nvSpPr>
            <p:cNvPr id="37" name="TextBox 37"/>
            <p:cNvSpPr txBox="1"/>
            <p:nvPr/>
          </p:nvSpPr>
          <p:spPr>
            <a:xfrm>
              <a:off x="681038" y="6400800"/>
              <a:ext cx="187579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A8B9B"/>
                  </a:solidFill>
                  <a:latin typeface="+mn-lt"/>
                  <a:ea typeface="+mn-ea"/>
                  <a:cs typeface="+mn-cs"/>
                </a:rPr>
                <a:t>第 4 章 进程同步 · 课堂回顾</a:t>
              </a:r>
              <a:endParaRPr lang="zh-CN" sz="1200" dirty="0">
                <a:solidFill>
                  <a:srgbClr val="7A8B9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997247" y="6400800"/>
              <a:ext cx="51371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A8B9B"/>
                  </a:solidFill>
                  <a:latin typeface="+mn-lt"/>
                  <a:ea typeface="+mn-ea"/>
                  <a:cs typeface="+mn-cs"/>
                </a:rPr>
                <a:t>07 / 1</a:t>
              </a:r>
              <a:r>
                <a:rPr lang="en-US" altLang="zh-CN" sz="1200" dirty="0">
                  <a:solidFill>
                    <a:srgbClr val="7A8B9B"/>
                  </a:solidFill>
                  <a:latin typeface="+mn-lt"/>
                  <a:ea typeface="+mn-ea"/>
                  <a:cs typeface="+mn-cs"/>
                </a:rPr>
                <a:t>4</a:t>
              </a:r>
              <a:endParaRPr lang="en-US" altLang="zh-CN" sz="1200" dirty="0">
                <a:solidFill>
                  <a:srgbClr val="7A8B9B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72084" y="704850"/>
            <a:ext cx="10834116" cy="866775"/>
            <a:chOff x="672084" y="704850"/>
            <a:chExt cx="10834116" cy="866775"/>
          </a:xfrm>
        </p:grpSpPr>
        <p:sp>
          <p:nvSpPr>
            <p:cNvPr id="2" name="TextBox 2"/>
            <p:cNvSpPr txBox="1"/>
            <p:nvPr/>
          </p:nvSpPr>
          <p:spPr>
            <a:xfrm>
              <a:off x="680847" y="704850"/>
              <a:ext cx="140843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12" dirty="0">
                  <a:solidFill>
                    <a:srgbClr val="1D4E7C"/>
                  </a:solidFill>
                  <a:latin typeface="+mj-lt"/>
                  <a:ea typeface="+mj-ea"/>
                  <a:cs typeface="+mj-cs"/>
                </a:rPr>
                <a:t>BLOOM 03 / 应用</a:t>
              </a:r>
              <a:endParaRPr lang="zh-CN" sz="1200" spc="112" dirty="0">
                <a:solidFill>
                  <a:srgbClr val="1D4E7C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1003300"/>
              <a:ext cx="4241165" cy="492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200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哲学家进餐和读者-写者</a:t>
              </a:r>
              <a:endParaRPr lang="zh-CN" sz="3200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5621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BD6E0"/>
              </a:solidFill>
            </a:ln>
          </p:spPr>
        </p:sp>
      </p:grpSp>
      <p:grpSp>
        <p:nvGrpSpPr>
          <p:cNvPr id="15" name="philosophers"/>
          <p:cNvGrpSpPr/>
          <p:nvPr/>
        </p:nvGrpSpPr>
        <p:grpSpPr>
          <a:xfrm>
            <a:off x="676656" y="1917700"/>
            <a:ext cx="5152644" cy="2844800"/>
            <a:chOff x="676656" y="1917700"/>
            <a:chExt cx="5152644" cy="2844800"/>
          </a:xfrm>
        </p:grpSpPr>
        <p:sp>
          <p:nvSpPr>
            <p:cNvPr id="6" name="TextBox 6"/>
            <p:cNvSpPr txBox="1"/>
            <p:nvPr/>
          </p:nvSpPr>
          <p:spPr>
            <a:xfrm>
              <a:off x="681038" y="1917700"/>
              <a:ext cx="180975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90" dirty="0">
                  <a:solidFill>
                    <a:srgbClr val="8A9BAB"/>
                  </a:solidFill>
                  <a:latin typeface="+mj-lt"/>
                  <a:ea typeface="+mj-ea"/>
                  <a:cs typeface="+mj-cs"/>
                </a:rPr>
                <a:t>DINING PHILOSOPHERS</a:t>
              </a:r>
              <a:endParaRPr lang="en-US" sz="1200" spc="90" dirty="0">
                <a:solidFill>
                  <a:srgbClr val="8A9BAB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6656" y="2165350"/>
              <a:ext cx="1524000" cy="3689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哲学家进餐</a:t>
              </a:r>
              <a:endParaRPr lang="zh-CN" sz="2400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Line 8"/>
            <p:cNvSpPr/>
            <p:nvPr/>
          </p:nvSpPr>
          <p:spPr>
            <a:xfrm>
              <a:off x="685800" y="253365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rgbClr val="DCE4E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80466" y="2749550"/>
              <a:ext cx="227838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475B"/>
                  </a:solidFill>
                  <a:latin typeface="+mn-lt"/>
                  <a:ea typeface="+mn-ea"/>
                  <a:cs typeface="+mn-cs"/>
                </a:rPr>
                <a:t>5 </a:t>
              </a:r>
              <a:r>
                <a:rPr lang="zh-CN" sz="1200" dirty="0">
                  <a:solidFill>
                    <a:srgbClr val="33475B"/>
                  </a:solidFill>
                  <a:latin typeface="+mn-lt"/>
                  <a:ea typeface="+mn-ea"/>
                  <a:cs typeface="+mn-cs"/>
                </a:rPr>
                <a:t>个人 5 支筷子，吃饭要拿两支。</a:t>
              </a:r>
              <a:endParaRPr lang="zh-CN" sz="1200" dirty="0">
                <a:solidFill>
                  <a:srgbClr val="33475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80466" y="3111500"/>
              <a:ext cx="37719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D4E7C"/>
                  </a:solidFill>
                  <a:latin typeface="+mj-lt"/>
                  <a:ea typeface="+mj-ea"/>
                  <a:cs typeface="+mj-cs"/>
                </a:rPr>
                <a:t>wait(chopstick[i]); wait(chopstick[(i+1)%5]);</a:t>
              </a:r>
              <a:endParaRPr lang="en-US" sz="1200" dirty="0">
                <a:solidFill>
                  <a:srgbClr val="1D4E7C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80466" y="3473450"/>
              <a:ext cx="40792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23A2E"/>
                  </a:solidFill>
                  <a:latin typeface="+mn-lt"/>
                  <a:ea typeface="+mn-ea"/>
                  <a:cs typeface="+mn-cs"/>
                </a:rPr>
                <a:t>5 个人同时拿左筷，筷子全变成 0，再等右筷就永远等下去。</a:t>
              </a:r>
              <a:endParaRPr lang="zh-CN" sz="1200" dirty="0">
                <a:solidFill>
                  <a:srgbClr val="B23A2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80466" y="3854450"/>
              <a:ext cx="365442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475B"/>
                  </a:solidFill>
                  <a:latin typeface="+mn-lt"/>
                  <a:ea typeface="+mn-ea"/>
                  <a:cs typeface="+mn-cs"/>
                </a:rPr>
                <a:t>改法 1：AND 信号量 Sswait(左, 右)，两支一起申请。</a:t>
              </a:r>
              <a:endParaRPr lang="zh-CN" sz="1200" dirty="0">
                <a:solidFill>
                  <a:srgbClr val="33475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80466" y="4216400"/>
              <a:ext cx="35560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475B"/>
                  </a:solidFill>
                  <a:latin typeface="+mn-lt"/>
                  <a:ea typeface="+mn-ea"/>
                  <a:cs typeface="+mn-cs"/>
                </a:rPr>
                <a:t>改法 2：管程里用 state[5] 和 test(i) 判断左右邻居。</a:t>
              </a:r>
              <a:endParaRPr lang="zh-CN" sz="1200" dirty="0">
                <a:solidFill>
                  <a:srgbClr val="33475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80466" y="4578350"/>
              <a:ext cx="24384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7B"/>
                  </a:solidFill>
                  <a:latin typeface="+mn-lt"/>
                  <a:ea typeface="+mn-ea"/>
                  <a:cs typeface="+mn-cs"/>
                </a:rPr>
                <a:t>要么两支都拿到，要么一支都不拿。</a:t>
              </a:r>
              <a:endParaRPr lang="zh-CN" sz="1200" dirty="0">
                <a:solidFill>
                  <a:srgbClr val="5A6B7B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" name="readers-writers"/>
          <p:cNvGrpSpPr/>
          <p:nvPr/>
        </p:nvGrpSpPr>
        <p:grpSpPr>
          <a:xfrm>
            <a:off x="6163056" y="1917700"/>
            <a:ext cx="5343144" cy="2844800"/>
            <a:chOff x="6163056" y="1917700"/>
            <a:chExt cx="5343144" cy="2844800"/>
          </a:xfrm>
        </p:grpSpPr>
        <p:sp>
          <p:nvSpPr>
            <p:cNvPr id="16" name="TextBox 16"/>
            <p:cNvSpPr txBox="1"/>
            <p:nvPr/>
          </p:nvSpPr>
          <p:spPr>
            <a:xfrm>
              <a:off x="6167438" y="1917700"/>
              <a:ext cx="161925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90" dirty="0">
                  <a:solidFill>
                    <a:srgbClr val="8A9BAB"/>
                  </a:solidFill>
                  <a:latin typeface="+mj-lt"/>
                  <a:ea typeface="+mj-ea"/>
                  <a:cs typeface="+mj-cs"/>
                </a:rPr>
                <a:t>READERS / WRITERS</a:t>
              </a:r>
              <a:endParaRPr lang="en-US" sz="1200" spc="90" dirty="0">
                <a:solidFill>
                  <a:srgbClr val="8A9BAB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163056" y="2165350"/>
              <a:ext cx="1352550" cy="3689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读者-写者</a:t>
              </a:r>
              <a:endParaRPr lang="zh-CN" sz="2400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Line 18"/>
            <p:cNvSpPr/>
            <p:nvPr/>
          </p:nvSpPr>
          <p:spPr>
            <a:xfrm>
              <a:off x="6172200" y="253365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rgbClr val="DCE4E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166866" y="2749550"/>
              <a:ext cx="39624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475B"/>
                  </a:solidFill>
                  <a:latin typeface="+mn-lt"/>
                  <a:ea typeface="+mn-ea"/>
                  <a:cs typeface="+mn-cs"/>
                </a:rPr>
                <a:t>多个读者可以同时读；读写不能同时；多个写者不能同时。</a:t>
              </a:r>
              <a:endParaRPr lang="zh-CN" sz="1200" dirty="0">
                <a:solidFill>
                  <a:srgbClr val="33475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166866" y="3111500"/>
              <a:ext cx="343662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D4E7C"/>
                  </a:solidFill>
                  <a:latin typeface="+mj-lt"/>
                  <a:ea typeface="+mj-ea"/>
                  <a:cs typeface="+mj-cs"/>
                </a:rPr>
                <a:t>if (readcount == 0) wait(w); readcount++;</a:t>
              </a:r>
              <a:endParaRPr lang="en-US" sz="1200" dirty="0">
                <a:solidFill>
                  <a:srgbClr val="1D4E7C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166866" y="3473450"/>
              <a:ext cx="33528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475B"/>
                  </a:solidFill>
                  <a:latin typeface="+mn-lt"/>
                  <a:ea typeface="+mn-ea"/>
                  <a:cs typeface="+mn-cs"/>
                </a:rPr>
                <a:t>读者优先：第一个读者锁门，最后一个读者开门。</a:t>
              </a:r>
              <a:endParaRPr lang="zh-CN" sz="1200" dirty="0">
                <a:solidFill>
                  <a:srgbClr val="33475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166866" y="3854450"/>
              <a:ext cx="35052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475B"/>
                  </a:solidFill>
                  <a:latin typeface="+mn-lt"/>
                  <a:ea typeface="+mn-ea"/>
                  <a:cs typeface="+mn-cs"/>
                </a:rPr>
                <a:t>写者优先：加一个排队信号量，后来的读者要让路。</a:t>
              </a:r>
              <a:endParaRPr lang="zh-CN" sz="1200" dirty="0">
                <a:solidFill>
                  <a:srgbClr val="33475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166866" y="4216400"/>
              <a:ext cx="374586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475B"/>
                  </a:solidFill>
                  <a:latin typeface="+mn-lt"/>
                  <a:ea typeface="+mn-ea"/>
                  <a:cs typeface="+mn-cs"/>
                </a:rPr>
                <a:t>信号量集：L = RN，mx = 1；Swait(mx,1,1; L,RN,0)。</a:t>
              </a:r>
              <a:endParaRPr lang="zh-CN" sz="1200" dirty="0">
                <a:solidFill>
                  <a:srgbClr val="33475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166866" y="4578350"/>
              <a:ext cx="33782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7B"/>
                  </a:solidFill>
                  <a:latin typeface="+mn-lt"/>
                  <a:ea typeface="+mn-ea"/>
                  <a:cs typeface="+mn-cs"/>
                </a:rPr>
                <a:t>关键在 readcount：谁是第一个、谁是最后一个。</a:t>
              </a:r>
              <a:endParaRPr lang="zh-CN" sz="1200" dirty="0">
                <a:solidFill>
                  <a:srgbClr val="5A6B7B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verdict"/>
          <p:cNvGrpSpPr/>
          <p:nvPr/>
        </p:nvGrpSpPr>
        <p:grpSpPr>
          <a:xfrm>
            <a:off x="685800" y="5334000"/>
            <a:ext cx="10820400" cy="800100"/>
            <a:chOff x="685800" y="5334000"/>
            <a:chExt cx="10820400" cy="800100"/>
          </a:xfrm>
        </p:grpSpPr>
        <p:sp>
          <p:nvSpPr>
            <p:cNvPr id="26" name="Rectangle 26"/>
            <p:cNvSpPr/>
            <p:nvPr/>
          </p:nvSpPr>
          <p:spPr>
            <a:xfrm>
              <a:off x="685800" y="5334000"/>
              <a:ext cx="10820400" cy="800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E4EC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85800" y="5334000"/>
              <a:ext cx="57150" cy="800100"/>
            </a:xfrm>
            <a:prstGeom prst="rect">
              <a:avLst/>
            </a:prstGeom>
            <a:solidFill>
              <a:srgbClr val="C9A22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83742" y="5511800"/>
              <a:ext cx="4191635" cy="215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同一个问题可以用信号量、AND 信号量或管程来做。</a:t>
              </a:r>
              <a:endParaRPr lang="zh-CN" sz="1400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85266" y="5797550"/>
              <a:ext cx="35052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7B"/>
                  </a:solidFill>
                  <a:latin typeface="+mn-lt"/>
                  <a:ea typeface="+mn-ea"/>
                  <a:cs typeface="+mn-cs"/>
                </a:rPr>
                <a:t>区别在于一次申请几个资源，以及互斥由谁来保证。</a:t>
              </a:r>
              <a:endParaRPr lang="zh-CN" sz="1200" dirty="0">
                <a:solidFill>
                  <a:srgbClr val="5A6B7B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681038" y="6400800"/>
            <a:ext cx="10829924" cy="184150"/>
            <a:chOff x="681038" y="6400800"/>
            <a:chExt cx="10829924" cy="184150"/>
          </a:xfrm>
        </p:grpSpPr>
        <p:sp>
          <p:nvSpPr>
            <p:cNvPr id="31" name="TextBox 31"/>
            <p:cNvSpPr txBox="1"/>
            <p:nvPr/>
          </p:nvSpPr>
          <p:spPr>
            <a:xfrm>
              <a:off x="681038" y="6400800"/>
              <a:ext cx="187579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A8B9B"/>
                  </a:solidFill>
                  <a:latin typeface="+mn-lt"/>
                  <a:ea typeface="+mn-ea"/>
                  <a:cs typeface="+mn-cs"/>
                </a:rPr>
                <a:t>第 4 章 进程同步 · 课堂回顾</a:t>
              </a:r>
              <a:endParaRPr lang="zh-CN" sz="1200" dirty="0">
                <a:solidFill>
                  <a:srgbClr val="7A8B9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997247" y="6400800"/>
              <a:ext cx="51371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A8B9B"/>
                  </a:solidFill>
                  <a:latin typeface="+mn-lt"/>
                  <a:ea typeface="+mn-ea"/>
                  <a:cs typeface="+mn-cs"/>
                </a:rPr>
                <a:t>08 / 1</a:t>
              </a:r>
              <a:r>
                <a:rPr lang="en-US" altLang="zh-CN" sz="1200" dirty="0">
                  <a:solidFill>
                    <a:srgbClr val="7A8B9B"/>
                  </a:solidFill>
                  <a:latin typeface="+mn-lt"/>
                  <a:ea typeface="+mn-ea"/>
                  <a:cs typeface="+mn-cs"/>
                </a:rPr>
                <a:t>4</a:t>
              </a:r>
              <a:endParaRPr lang="en-US" altLang="zh-CN" sz="1200" dirty="0">
                <a:solidFill>
                  <a:srgbClr val="7A8B9B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72084" y="704850"/>
            <a:ext cx="10834116" cy="866775"/>
            <a:chOff x="672084" y="704850"/>
            <a:chExt cx="10834116" cy="866775"/>
          </a:xfrm>
        </p:grpSpPr>
        <p:sp>
          <p:nvSpPr>
            <p:cNvPr id="2" name="TextBox 2"/>
            <p:cNvSpPr txBox="1"/>
            <p:nvPr/>
          </p:nvSpPr>
          <p:spPr>
            <a:xfrm>
              <a:off x="680847" y="704850"/>
              <a:ext cx="140843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12" dirty="0">
                  <a:solidFill>
                    <a:srgbClr val="1D4E7C"/>
                  </a:solidFill>
                  <a:latin typeface="+mj-lt"/>
                  <a:ea typeface="+mj-ea"/>
                  <a:cs typeface="+mj-cs"/>
                </a:rPr>
                <a:t>BLOOM 04 / 分析</a:t>
              </a:r>
              <a:endParaRPr lang="zh-CN" sz="1200" spc="112" dirty="0">
                <a:solidFill>
                  <a:srgbClr val="1D4E7C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1003300"/>
              <a:ext cx="3251200" cy="492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200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死锁是怎么发生的</a:t>
              </a:r>
              <a:endParaRPr lang="zh-CN" sz="3200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5621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BD6E0"/>
              </a:solidFill>
            </a:ln>
          </p:spPr>
        </p:sp>
      </p:grpSp>
      <p:grpSp>
        <p:nvGrpSpPr>
          <p:cNvPr id="26" name="ring"/>
          <p:cNvGrpSpPr/>
          <p:nvPr/>
        </p:nvGrpSpPr>
        <p:grpSpPr>
          <a:xfrm>
            <a:off x="680847" y="1917700"/>
            <a:ext cx="3986403" cy="3829050"/>
            <a:chOff x="680847" y="1917700"/>
            <a:chExt cx="3986403" cy="3829050"/>
          </a:xfrm>
        </p:grpSpPr>
        <p:sp>
          <p:nvSpPr>
            <p:cNvPr id="6" name="TextBox 6"/>
            <p:cNvSpPr txBox="1"/>
            <p:nvPr/>
          </p:nvSpPr>
          <p:spPr>
            <a:xfrm>
              <a:off x="681038" y="1917700"/>
              <a:ext cx="242316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90" dirty="0">
                  <a:solidFill>
                    <a:srgbClr val="8A9BAB"/>
                  </a:solidFill>
                  <a:latin typeface="+mj-lt"/>
                  <a:ea typeface="+mj-ea"/>
                  <a:cs typeface="+mj-cs"/>
                </a:rPr>
                <a:t>WAIT-FOR GRAPH / 5 人 5 筷</a:t>
              </a:r>
              <a:endParaRPr lang="zh-CN" sz="1200" spc="90" dirty="0">
                <a:solidFill>
                  <a:srgbClr val="8A9BAB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3143250" y="2381250"/>
              <a:ext cx="1181100" cy="857250"/>
            </a:xfrm>
            <a:custGeom>
              <a:avLst/>
              <a:gdLst/>
              <a:ahLst/>
              <a:cxnLst/>
              <a:rect l="l" t="t" r="r" b="b"/>
              <a:pathLst>
                <a:path w="1181100" h="857250">
                  <a:moveTo>
                    <a:pt x="0" y="0"/>
                  </a:moveTo>
                  <a:lnTo>
                    <a:pt x="1181100" y="857250"/>
                  </a:lnTo>
                </a:path>
              </a:pathLst>
            </a:custGeom>
            <a:noFill/>
            <a:ln w="38100">
              <a:solidFill>
                <a:srgbClr val="C9A227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867150" y="3238500"/>
              <a:ext cx="457200" cy="1381125"/>
            </a:xfrm>
            <a:custGeom>
              <a:avLst/>
              <a:gdLst/>
              <a:ahLst/>
              <a:cxnLst/>
              <a:rect l="l" t="t" r="r" b="b"/>
              <a:pathLst>
                <a:path w="457200" h="1381125">
                  <a:moveTo>
                    <a:pt x="457200" y="0"/>
                  </a:moveTo>
                  <a:lnTo>
                    <a:pt x="0" y="1381125"/>
                  </a:lnTo>
                </a:path>
              </a:pathLst>
            </a:custGeom>
            <a:noFill/>
            <a:ln w="38100">
              <a:solidFill>
                <a:srgbClr val="C9A227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2419350" y="4619625"/>
              <a:ext cx="1447800" cy="9525"/>
            </a:xfrm>
            <a:custGeom>
              <a:avLst/>
              <a:gdLst/>
              <a:ahLst/>
              <a:cxnLst/>
              <a:rect l="l" t="t" r="r" b="b"/>
              <a:pathLst>
                <a:path w="1447800" h="9525">
                  <a:moveTo>
                    <a:pt x="1447800" y="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C9A227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962150" y="3238500"/>
              <a:ext cx="457200" cy="1381125"/>
            </a:xfrm>
            <a:custGeom>
              <a:avLst/>
              <a:gdLst/>
              <a:ahLst/>
              <a:cxnLst/>
              <a:rect l="l" t="t" r="r" b="b"/>
              <a:pathLst>
                <a:path w="457200" h="1381125">
                  <a:moveTo>
                    <a:pt x="457200" y="1381125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C9A227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962150" y="2381250"/>
              <a:ext cx="1181100" cy="857250"/>
            </a:xfrm>
            <a:custGeom>
              <a:avLst/>
              <a:gdLst/>
              <a:ahLst/>
              <a:cxnLst/>
              <a:rect l="l" t="t" r="r" b="b"/>
              <a:pathLst>
                <a:path w="1181100" h="857250">
                  <a:moveTo>
                    <a:pt x="0" y="857250"/>
                  </a:moveTo>
                  <a:lnTo>
                    <a:pt x="1181100" y="0"/>
                  </a:lnTo>
                </a:path>
              </a:pathLst>
            </a:custGeom>
            <a:noFill/>
            <a:ln w="38100">
              <a:solidFill>
                <a:srgbClr val="C9A227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2800350" y="2038350"/>
              <a:ext cx="685800" cy="6858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D4E7C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3981450" y="2895600"/>
              <a:ext cx="685800" cy="6858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D4E7C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3524250" y="4276725"/>
              <a:ext cx="685800" cy="6858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D4E7C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2076450" y="4276725"/>
              <a:ext cx="685800" cy="6858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D4E7C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619250" y="2895600"/>
              <a:ext cx="685800" cy="6858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D4E7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87017" y="2295525"/>
              <a:ext cx="11246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zh-CN" sz="1280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68117" y="3152775"/>
              <a:ext cx="11246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2</a:t>
              </a:r>
              <a:endParaRPr lang="zh-CN" sz="1280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810917" y="4533900"/>
              <a:ext cx="11246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zh-CN" sz="1280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363117" y="4533900"/>
              <a:ext cx="11246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4</a:t>
              </a:r>
              <a:endParaRPr lang="zh-CN" sz="1280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05917" y="3152775"/>
              <a:ext cx="11246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5</a:t>
              </a:r>
              <a:endParaRPr lang="zh-CN" sz="1280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Ellipse 22"/>
            <p:cNvSpPr/>
            <p:nvPr/>
          </p:nvSpPr>
          <p:spPr>
            <a:xfrm>
              <a:off x="2324100" y="2800350"/>
              <a:ext cx="1638300" cy="1638300"/>
            </a:xfrm>
            <a:prstGeom prst="ellipse">
              <a:avLst/>
            </a:prstGeom>
            <a:noFill/>
            <a:ln w="19050">
              <a:solidFill>
                <a:srgbClr val="B23A2E"/>
              </a:solidFill>
              <a:custDash>
                <a:ds d="300000" sp="250000"/>
              </a:custDash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814066" y="34290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23A2E"/>
                  </a:solidFill>
                  <a:latin typeface="+mn-lt"/>
                  <a:ea typeface="+mn-ea"/>
                  <a:cs typeface="+mn-cs"/>
                </a:rPr>
                <a:t>等待成环</a:t>
              </a:r>
              <a:endParaRPr lang="zh-CN" sz="1200" b="1" dirty="0">
                <a:solidFill>
                  <a:srgbClr val="B23A2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532698" y="3676650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A6D6A"/>
                  </a:solidFill>
                  <a:latin typeface="+mn-lt"/>
                  <a:ea typeface="+mn-ea"/>
                  <a:cs typeface="+mn-cs"/>
                </a:rPr>
                <a:t>每人拿着一支，等一支</a:t>
              </a:r>
              <a:endParaRPr lang="zh-CN" sz="900" dirty="0">
                <a:solidFill>
                  <a:srgbClr val="8A6D6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0847" y="5562600"/>
              <a:ext cx="33528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7B"/>
                  </a:solidFill>
                  <a:latin typeface="+mn-lt"/>
                  <a:ea typeface="+mn-ea"/>
                  <a:cs typeface="+mn-cs"/>
                </a:rPr>
                <a:t>黄色边是筷子；拿到左筷后，右筷都在邻居手里。</a:t>
              </a:r>
              <a:endParaRPr lang="zh-CN" sz="1200" dirty="0">
                <a:solidFill>
                  <a:srgbClr val="5A6B7B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2" name="growth"/>
          <p:cNvGrpSpPr/>
          <p:nvPr/>
        </p:nvGrpSpPr>
        <p:grpSpPr>
          <a:xfrm>
            <a:off x="6091047" y="1917700"/>
            <a:ext cx="5415153" cy="3733800"/>
            <a:chOff x="6091047" y="1917700"/>
            <a:chExt cx="5415153" cy="3733800"/>
          </a:xfrm>
        </p:grpSpPr>
        <p:sp>
          <p:nvSpPr>
            <p:cNvPr id="27" name="TextBox 27"/>
            <p:cNvSpPr txBox="1"/>
            <p:nvPr/>
          </p:nvSpPr>
          <p:spPr>
            <a:xfrm>
              <a:off x="6091238" y="1917700"/>
              <a:ext cx="13335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90" dirty="0">
                  <a:solidFill>
                    <a:srgbClr val="8A9BAB"/>
                  </a:solidFill>
                  <a:latin typeface="+mj-lt"/>
                  <a:ea typeface="+mj-ea"/>
                  <a:cs typeface="+mj-cs"/>
                </a:rPr>
                <a:t>HOW IT HAPPENS</a:t>
              </a:r>
              <a:endParaRPr lang="en-US" sz="1200" spc="90" dirty="0">
                <a:solidFill>
                  <a:srgbClr val="8A9BAB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91238" y="2298700"/>
              <a:ext cx="1676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4E7C"/>
                  </a:solidFill>
                  <a:latin typeface="+mj-lt"/>
                  <a:ea typeface="+mj-ea"/>
                  <a:cs typeface="+mj-cs"/>
                </a:rPr>
                <a:t>01</a:t>
              </a:r>
              <a:endParaRPr lang="zh-CN" sz="1200" dirty="0">
                <a:solidFill>
                  <a:srgbClr val="1D4E7C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2423" y="2247900"/>
              <a:ext cx="711200" cy="215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各拿左筷</a:t>
              </a:r>
              <a:endParaRPr lang="zh-CN" sz="1400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33947" y="2514600"/>
              <a:ext cx="13360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7B"/>
                  </a:solidFill>
                  <a:latin typeface="+mn-lt"/>
                  <a:ea typeface="+mn-ea"/>
                  <a:cs typeface="+mn-cs"/>
                </a:rPr>
                <a:t>5 支筷子都减到 0。</a:t>
              </a:r>
              <a:endParaRPr lang="zh-CN" sz="1200" dirty="0">
                <a:solidFill>
                  <a:srgbClr val="5A6B7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91238" y="2965450"/>
              <a:ext cx="1676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4E7C"/>
                  </a:solidFill>
                  <a:latin typeface="+mj-lt"/>
                  <a:ea typeface="+mj-ea"/>
                  <a:cs typeface="+mj-cs"/>
                </a:rPr>
                <a:t>02</a:t>
              </a:r>
              <a:endParaRPr lang="zh-CN" sz="1200" dirty="0">
                <a:solidFill>
                  <a:srgbClr val="1D4E7C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32423" y="2914650"/>
              <a:ext cx="711200" cy="215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再等右筷</a:t>
              </a:r>
              <a:endParaRPr lang="zh-CN" sz="1400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33947" y="3181350"/>
              <a:ext cx="21336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7B"/>
                  </a:solidFill>
                  <a:latin typeface="+mn-lt"/>
                  <a:ea typeface="+mn-ea"/>
                  <a:cs typeface="+mn-cs"/>
                </a:rPr>
                <a:t>右筷在邻居手里，谁也拿不到。</a:t>
              </a:r>
              <a:endParaRPr lang="zh-CN" sz="1200" dirty="0">
                <a:solidFill>
                  <a:srgbClr val="5A6B7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91238" y="3632200"/>
              <a:ext cx="1676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4E7C"/>
                  </a:solidFill>
                  <a:latin typeface="+mj-lt"/>
                  <a:ea typeface="+mj-ea"/>
                  <a:cs typeface="+mj-cs"/>
                </a:rPr>
                <a:t>03</a:t>
              </a:r>
              <a:endParaRPr lang="zh-CN" sz="1200" dirty="0">
                <a:solidFill>
                  <a:srgbClr val="1D4E7C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2423" y="3581400"/>
              <a:ext cx="889000" cy="215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没有人释放</a:t>
              </a:r>
              <a:endParaRPr lang="zh-CN" sz="1400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33947" y="3848100"/>
              <a:ext cx="21336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7B"/>
                  </a:solidFill>
                  <a:latin typeface="+mn-lt"/>
                  <a:ea typeface="+mn-ea"/>
                  <a:cs typeface="+mn-cs"/>
                </a:rPr>
                <a:t>所有人都在等，程序停在这里。</a:t>
              </a:r>
              <a:endParaRPr lang="zh-CN" sz="1200" dirty="0">
                <a:solidFill>
                  <a:srgbClr val="5A6B7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096000" y="4191000"/>
              <a:ext cx="5410200" cy="800100"/>
            </a:xfrm>
            <a:prstGeom prst="rect">
              <a:avLst/>
            </a:prstGeom>
            <a:solidFill>
              <a:srgbClr val="16202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81547" y="4381500"/>
              <a:ext cx="259842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E8EEF4"/>
                  </a:solidFill>
                  <a:latin typeface="+mj-lt"/>
                  <a:ea typeface="+mj-ea"/>
                  <a:cs typeface="+mj-cs"/>
                </a:rPr>
                <a:t>P0: P(S); P(Q); P1: P(Q); P(S);</a:t>
              </a:r>
              <a:endParaRPr lang="en-US" sz="1200" dirty="0">
                <a:solidFill>
                  <a:srgbClr val="E8EEF4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81547" y="4648200"/>
              <a:ext cx="25908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EEF4"/>
                  </a:solidFill>
                  <a:latin typeface="+mj-lt"/>
                  <a:ea typeface="+mj-ea"/>
                  <a:cs typeface="+mj-cs"/>
                </a:rPr>
                <a:t>各自拿到一个，再等对方手里的那个。</a:t>
              </a:r>
              <a:endParaRPr lang="zh-CN" sz="1200" dirty="0">
                <a:solidFill>
                  <a:srgbClr val="E8EEF4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091047" y="5238750"/>
              <a:ext cx="35052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7B"/>
                  </a:solidFill>
                  <a:latin typeface="+mn-lt"/>
                  <a:ea typeface="+mn-ea"/>
                  <a:cs typeface="+mn-cs"/>
                </a:rPr>
                <a:t>饥饿和死锁不一样：饥饿是一个进程长期排不上队。</a:t>
              </a:r>
              <a:endParaRPr lang="zh-CN" sz="1200" dirty="0">
                <a:solidFill>
                  <a:srgbClr val="5A6B7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91047" y="5467350"/>
              <a:ext cx="32004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7B"/>
                  </a:solidFill>
                  <a:latin typeface="+mn-lt"/>
                  <a:ea typeface="+mn-ea"/>
                  <a:cs typeface="+mn-cs"/>
                </a:rPr>
                <a:t>死锁是几个进程互相等，等待关系连成一个环。</a:t>
              </a:r>
              <a:endParaRPr lang="zh-CN" sz="1200" dirty="0">
                <a:solidFill>
                  <a:srgbClr val="5A6B7B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681038" y="6400800"/>
            <a:ext cx="10829924" cy="184150"/>
            <a:chOff x="681038" y="6400800"/>
            <a:chExt cx="10829924" cy="184150"/>
          </a:xfrm>
        </p:grpSpPr>
        <p:sp>
          <p:nvSpPr>
            <p:cNvPr id="43" name="TextBox 43"/>
            <p:cNvSpPr txBox="1"/>
            <p:nvPr/>
          </p:nvSpPr>
          <p:spPr>
            <a:xfrm>
              <a:off x="681038" y="6400800"/>
              <a:ext cx="187579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A8B9B"/>
                  </a:solidFill>
                  <a:latin typeface="+mn-lt"/>
                  <a:ea typeface="+mn-ea"/>
                  <a:cs typeface="+mn-cs"/>
                </a:rPr>
                <a:t>第 4 章 进程同步 · 课堂回顾</a:t>
              </a:r>
              <a:endParaRPr lang="zh-CN" sz="1200" dirty="0">
                <a:solidFill>
                  <a:srgbClr val="7A8B9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997247" y="6400800"/>
              <a:ext cx="51371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A8B9B"/>
                  </a:solidFill>
                  <a:latin typeface="+mn-lt"/>
                  <a:ea typeface="+mn-ea"/>
                  <a:cs typeface="+mn-cs"/>
                </a:rPr>
                <a:t>09 / 1</a:t>
              </a:r>
              <a:r>
                <a:rPr lang="en-US" altLang="zh-CN" sz="1200" dirty="0">
                  <a:solidFill>
                    <a:srgbClr val="7A8B9B"/>
                  </a:solidFill>
                  <a:latin typeface="+mn-lt"/>
                  <a:ea typeface="+mn-ea"/>
                  <a:cs typeface="+mn-cs"/>
                </a:rPr>
                <a:t>4</a:t>
              </a:r>
              <a:endParaRPr lang="en-US" altLang="zh-CN" sz="1200" dirty="0">
                <a:solidFill>
                  <a:srgbClr val="7A8B9B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72084" y="704850"/>
            <a:ext cx="10834116" cy="866775"/>
            <a:chOff x="672084" y="704850"/>
            <a:chExt cx="10834116" cy="866775"/>
          </a:xfrm>
        </p:grpSpPr>
        <p:sp>
          <p:nvSpPr>
            <p:cNvPr id="2" name="TextBox 2"/>
            <p:cNvSpPr txBox="1"/>
            <p:nvPr/>
          </p:nvSpPr>
          <p:spPr>
            <a:xfrm>
              <a:off x="680847" y="704850"/>
              <a:ext cx="140843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12" dirty="0">
                  <a:solidFill>
                    <a:srgbClr val="1D4E7C"/>
                  </a:solidFill>
                  <a:latin typeface="+mj-lt"/>
                  <a:ea typeface="+mj-ea"/>
                  <a:cs typeface="+mj-cs"/>
                </a:rPr>
                <a:t>BLOOM 04 / 分析</a:t>
              </a:r>
              <a:endParaRPr lang="zh-CN" sz="1200" spc="112" dirty="0">
                <a:solidFill>
                  <a:srgbClr val="1D4E7C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1003300"/>
              <a:ext cx="4876800" cy="492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200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四种机制分别解决什么问题</a:t>
              </a:r>
              <a:endParaRPr lang="zh-CN" sz="3200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5621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BD6E0"/>
              </a:solidFill>
            </a:ln>
          </p:spPr>
        </p:sp>
      </p:grpSp>
      <p:grpSp>
        <p:nvGrpSpPr>
          <p:cNvPr id="32" name="matrix"/>
          <p:cNvGrpSpPr/>
          <p:nvPr/>
        </p:nvGrpSpPr>
        <p:grpSpPr>
          <a:xfrm>
            <a:off x="677799" y="2000250"/>
            <a:ext cx="10828401" cy="3248025"/>
            <a:chOff x="677799" y="2000250"/>
            <a:chExt cx="10828401" cy="3248025"/>
          </a:xfrm>
        </p:grpSpPr>
        <p:sp>
          <p:nvSpPr>
            <p:cNvPr id="6" name="TextBox 6"/>
            <p:cNvSpPr txBox="1"/>
            <p:nvPr/>
          </p:nvSpPr>
          <p:spPr>
            <a:xfrm>
              <a:off x="680847" y="2000250"/>
              <a:ext cx="3048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A6B7B"/>
                  </a:solidFill>
                  <a:latin typeface="+mn-lt"/>
                  <a:ea typeface="+mn-ea"/>
                  <a:cs typeface="+mn-cs"/>
                </a:rPr>
                <a:t>机制</a:t>
              </a:r>
              <a:endParaRPr lang="zh-CN" sz="1200" b="1" dirty="0">
                <a:solidFill>
                  <a:srgbClr val="5A6B7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204847" y="2000250"/>
              <a:ext cx="3048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A6B7B"/>
                  </a:solidFill>
                  <a:latin typeface="+mn-lt"/>
                  <a:ea typeface="+mn-ea"/>
                  <a:cs typeface="+mn-cs"/>
                </a:rPr>
                <a:t>做法</a:t>
              </a:r>
              <a:endParaRPr lang="zh-CN" sz="1200" b="1" dirty="0">
                <a:solidFill>
                  <a:srgbClr val="5A6B7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748147" y="2000250"/>
              <a:ext cx="3048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A6B7B"/>
                  </a:solidFill>
                  <a:latin typeface="+mn-lt"/>
                  <a:ea typeface="+mn-ea"/>
                  <a:cs typeface="+mn-cs"/>
                </a:rPr>
                <a:t>问题</a:t>
              </a:r>
              <a:endParaRPr lang="zh-CN" sz="1200" b="1" dirty="0">
                <a:solidFill>
                  <a:srgbClr val="5A6B7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100947" y="2000250"/>
              <a:ext cx="6096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A6B7B"/>
                  </a:solidFill>
                  <a:latin typeface="+mn-lt"/>
                  <a:ea typeface="+mn-ea"/>
                  <a:cs typeface="+mn-cs"/>
                </a:rPr>
                <a:t>适用场景</a:t>
              </a:r>
              <a:endParaRPr lang="zh-CN" sz="1200" b="1" dirty="0">
                <a:solidFill>
                  <a:srgbClr val="5A6B7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Line 10"/>
            <p:cNvSpPr/>
            <p:nvPr/>
          </p:nvSpPr>
          <p:spPr>
            <a:xfrm>
              <a:off x="685800" y="22479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B9C6D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7799" y="2362200"/>
              <a:ext cx="4572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软件</a:t>
              </a:r>
              <a:endParaRPr lang="zh-CN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204847" y="2438400"/>
              <a:ext cx="296291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475B"/>
                  </a:solidFill>
                  <a:latin typeface="+mn-lt"/>
                  <a:ea typeface="+mn-ea"/>
                  <a:cs typeface="+mn-cs"/>
                </a:rPr>
                <a:t>Peterson 用 turn 和 flag 表示谦让和意愿。</a:t>
              </a:r>
              <a:endParaRPr lang="zh-CN" sz="1200" dirty="0">
                <a:solidFill>
                  <a:srgbClr val="33475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748147" y="2438400"/>
              <a:ext cx="19812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23A2E"/>
                  </a:solidFill>
                  <a:latin typeface="+mn-lt"/>
                  <a:ea typeface="+mn-ea"/>
                  <a:cs typeface="+mn-cs"/>
                </a:rPr>
                <a:t>会忙等；只能处理两个进程。</a:t>
              </a:r>
              <a:endParaRPr lang="zh-CN" sz="1200" dirty="0">
                <a:solidFill>
                  <a:srgbClr val="B23A2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100947" y="2438400"/>
              <a:ext cx="9144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7B"/>
                  </a:solidFill>
                  <a:latin typeface="+mn-lt"/>
                  <a:ea typeface="+mn-ea"/>
                  <a:cs typeface="+mn-cs"/>
                </a:rPr>
                <a:t>帮助理解互斥</a:t>
              </a:r>
              <a:endParaRPr lang="zh-CN" sz="1200" dirty="0">
                <a:solidFill>
                  <a:srgbClr val="5A6B7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Line 15"/>
            <p:cNvSpPr/>
            <p:nvPr/>
          </p:nvSpPr>
          <p:spPr>
            <a:xfrm>
              <a:off x="685800" y="27432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1E7ED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77799" y="3124200"/>
              <a:ext cx="4572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硬件</a:t>
              </a:r>
              <a:endParaRPr lang="zh-CN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204847" y="3200400"/>
              <a:ext cx="307530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475B"/>
                  </a:solidFill>
                  <a:latin typeface="+mn-lt"/>
                  <a:ea typeface="+mn-ea"/>
                  <a:cs typeface="+mn-cs"/>
                </a:rPr>
                <a:t>关中断、TestAndSet、Swap 都是原子指令。</a:t>
              </a:r>
              <a:endParaRPr lang="zh-CN" sz="1200" dirty="0">
                <a:solidFill>
                  <a:srgbClr val="33475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748147" y="3200400"/>
              <a:ext cx="12192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23A2E"/>
                  </a:solidFill>
                  <a:latin typeface="+mn-lt"/>
                  <a:ea typeface="+mn-ea"/>
                  <a:cs typeface="+mn-cs"/>
                </a:rPr>
                <a:t>不满足让权等待；</a:t>
              </a:r>
              <a:endParaRPr lang="zh-CN" sz="1200" dirty="0">
                <a:solidFill>
                  <a:srgbClr val="B23A2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748147" y="3409950"/>
              <a:ext cx="13716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23A2E"/>
                  </a:solidFill>
                  <a:latin typeface="+mn-lt"/>
                  <a:ea typeface="+mn-ea"/>
                  <a:cs typeface="+mn-cs"/>
                </a:rPr>
                <a:t>复杂同步写不出来。</a:t>
              </a:r>
              <a:endParaRPr lang="zh-CN" sz="1200" dirty="0">
                <a:solidFill>
                  <a:srgbClr val="B23A2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100947" y="3200400"/>
              <a:ext cx="12192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7B"/>
                  </a:solidFill>
                  <a:latin typeface="+mn-lt"/>
                  <a:ea typeface="+mn-ea"/>
                  <a:cs typeface="+mn-cs"/>
                </a:rPr>
                <a:t>单核、临界区很短</a:t>
              </a:r>
              <a:endParaRPr lang="zh-CN" sz="1200" dirty="0">
                <a:solidFill>
                  <a:srgbClr val="5A6B7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Line 21"/>
            <p:cNvSpPr/>
            <p:nvPr/>
          </p:nvSpPr>
          <p:spPr>
            <a:xfrm>
              <a:off x="685800" y="3695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1E7ED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7799" y="4095750"/>
              <a:ext cx="6858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信号量</a:t>
              </a:r>
              <a:endParaRPr lang="zh-CN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204847" y="4171950"/>
              <a:ext cx="244030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475B"/>
                  </a:solidFill>
                  <a:latin typeface="+mn-lt"/>
                  <a:ea typeface="+mn-ea"/>
                  <a:cs typeface="+mn-cs"/>
                </a:rPr>
                <a:t>P/V 能表达互斥、同步和前驱关系。</a:t>
              </a:r>
              <a:endParaRPr lang="zh-CN" sz="1200" dirty="0">
                <a:solidFill>
                  <a:srgbClr val="33475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748147" y="4171950"/>
              <a:ext cx="25908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23A2E"/>
                  </a:solidFill>
                  <a:latin typeface="+mn-lt"/>
                  <a:ea typeface="+mn-ea"/>
                  <a:cs typeface="+mn-cs"/>
                </a:rPr>
                <a:t>容易写错：位置错、不配对、初值错。</a:t>
              </a:r>
              <a:endParaRPr lang="zh-CN" sz="1200" dirty="0">
                <a:solidFill>
                  <a:srgbClr val="B23A2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100947" y="4171950"/>
              <a:ext cx="10668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7B"/>
                  </a:solidFill>
                  <a:latin typeface="+mn-lt"/>
                  <a:ea typeface="+mn-ea"/>
                  <a:cs typeface="+mn-cs"/>
                </a:rPr>
                <a:t>通用，本章重点</a:t>
              </a:r>
              <a:endParaRPr lang="zh-CN" sz="1200" dirty="0">
                <a:solidFill>
                  <a:srgbClr val="5A6B7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Line 26"/>
            <p:cNvSpPr/>
            <p:nvPr/>
          </p:nvSpPr>
          <p:spPr>
            <a:xfrm>
              <a:off x="685800" y="4476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1E7ED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7799" y="4857750"/>
              <a:ext cx="4572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管程</a:t>
              </a:r>
              <a:endParaRPr lang="zh-CN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204847" y="4933950"/>
              <a:ext cx="27432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475B"/>
                  </a:solidFill>
                  <a:latin typeface="+mn-lt"/>
                  <a:ea typeface="+mn-ea"/>
                  <a:cs typeface="+mn-cs"/>
                </a:rPr>
                <a:t>共享变量和操作封装，编译器保证互斥。</a:t>
              </a:r>
              <a:endParaRPr lang="zh-CN" sz="1200" dirty="0">
                <a:solidFill>
                  <a:srgbClr val="33475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748147" y="4933950"/>
              <a:ext cx="22860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23A2E"/>
                  </a:solidFill>
                  <a:latin typeface="+mn-lt"/>
                  <a:ea typeface="+mn-ea"/>
                  <a:cs typeface="+mn-cs"/>
                </a:rPr>
                <a:t>需要语言支持；有两种唤醒语义。</a:t>
              </a:r>
              <a:endParaRPr lang="zh-CN" sz="1200" dirty="0">
                <a:solidFill>
                  <a:srgbClr val="B23A2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100947" y="4933950"/>
              <a:ext cx="7620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7B"/>
                  </a:solidFill>
                  <a:latin typeface="+mn-lt"/>
                  <a:ea typeface="+mn-ea"/>
                  <a:cs typeface="+mn-cs"/>
                </a:rPr>
                <a:t>结构化程序</a:t>
              </a:r>
              <a:endParaRPr lang="zh-CN" sz="1200" dirty="0">
                <a:solidFill>
                  <a:srgbClr val="5A6B7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Line 31"/>
            <p:cNvSpPr/>
            <p:nvPr/>
          </p:nvSpPr>
          <p:spPr>
            <a:xfrm>
              <a:off x="685800" y="523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1E7ED"/>
              </a:solidFill>
            </a:ln>
          </p:spPr>
        </p:sp>
      </p:grpSp>
      <p:grpSp>
        <p:nvGrpSpPr>
          <p:cNvPr id="34" name="note"/>
          <p:cNvGrpSpPr/>
          <p:nvPr/>
        </p:nvGrpSpPr>
        <p:grpSpPr>
          <a:xfrm>
            <a:off x="680085" y="5822950"/>
            <a:ext cx="6045200" cy="215265"/>
            <a:chOff x="680085" y="5822950"/>
            <a:chExt cx="6045200" cy="215265"/>
          </a:xfrm>
        </p:grpSpPr>
        <p:sp>
          <p:nvSpPr>
            <p:cNvPr id="33" name="TextBox 33"/>
            <p:cNvSpPr txBox="1"/>
            <p:nvPr/>
          </p:nvSpPr>
          <p:spPr>
            <a:xfrm>
              <a:off x="680085" y="5822950"/>
              <a:ext cx="6045200" cy="215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这四种机制是先后出现的，不是互相替代；现在写代码一般用信号量或管程。</a:t>
              </a:r>
              <a:endParaRPr lang="zh-CN" sz="1400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681038" y="6400800"/>
            <a:ext cx="10829924" cy="184150"/>
            <a:chOff x="681038" y="6400800"/>
            <a:chExt cx="10829924" cy="184150"/>
          </a:xfrm>
        </p:grpSpPr>
        <p:sp>
          <p:nvSpPr>
            <p:cNvPr id="35" name="TextBox 35"/>
            <p:cNvSpPr txBox="1"/>
            <p:nvPr/>
          </p:nvSpPr>
          <p:spPr>
            <a:xfrm>
              <a:off x="681038" y="6400800"/>
              <a:ext cx="187579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A8B9B"/>
                  </a:solidFill>
                  <a:latin typeface="+mn-lt"/>
                  <a:ea typeface="+mn-ea"/>
                  <a:cs typeface="+mn-cs"/>
                </a:rPr>
                <a:t>第 4 章 进程同步 · 课堂回顾</a:t>
              </a:r>
              <a:endParaRPr lang="zh-CN" sz="1200" dirty="0">
                <a:solidFill>
                  <a:srgbClr val="7A8B9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997247" y="6400800"/>
              <a:ext cx="51371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A8B9B"/>
                  </a:solidFill>
                  <a:latin typeface="+mn-lt"/>
                  <a:ea typeface="+mn-ea"/>
                  <a:cs typeface="+mn-cs"/>
                </a:rPr>
                <a:t>10 / 1</a:t>
              </a:r>
              <a:r>
                <a:rPr lang="en-US" altLang="zh-CN" sz="1200" dirty="0">
                  <a:solidFill>
                    <a:srgbClr val="7A8B9B"/>
                  </a:solidFill>
                  <a:latin typeface="+mn-lt"/>
                  <a:ea typeface="+mn-ea"/>
                  <a:cs typeface="+mn-cs"/>
                </a:rPr>
                <a:t>4</a:t>
              </a:r>
              <a:endParaRPr lang="en-US" altLang="zh-CN" sz="1200" dirty="0">
                <a:solidFill>
                  <a:srgbClr val="7A8B9B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72084" y="704850"/>
            <a:ext cx="10834116" cy="866775"/>
            <a:chOff x="672084" y="704850"/>
            <a:chExt cx="10834116" cy="866775"/>
          </a:xfrm>
        </p:grpSpPr>
        <p:sp>
          <p:nvSpPr>
            <p:cNvPr id="2" name="TextBox 2"/>
            <p:cNvSpPr txBox="1"/>
            <p:nvPr/>
          </p:nvSpPr>
          <p:spPr>
            <a:xfrm>
              <a:off x="680847" y="704850"/>
              <a:ext cx="140843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12" dirty="0">
                  <a:solidFill>
                    <a:srgbClr val="1D4E7C"/>
                  </a:solidFill>
                  <a:latin typeface="+mj-lt"/>
                  <a:ea typeface="+mj-ea"/>
                  <a:cs typeface="+mj-cs"/>
                </a:rPr>
                <a:t>BLOOM 05 / 评估</a:t>
              </a:r>
              <a:endParaRPr lang="zh-CN" sz="1200" spc="112" dirty="0">
                <a:solidFill>
                  <a:srgbClr val="1D4E7C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1003300"/>
              <a:ext cx="4876800" cy="492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200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按四条准则给五种方案打分</a:t>
              </a:r>
              <a:endParaRPr lang="zh-CN" sz="3200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5621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BD6E0"/>
              </a:solidFill>
            </a:ln>
          </p:spPr>
        </p:sp>
      </p:grpSp>
      <p:grpSp>
        <p:nvGrpSpPr>
          <p:cNvPr id="39" name="scorecard"/>
          <p:cNvGrpSpPr/>
          <p:nvPr/>
        </p:nvGrpSpPr>
        <p:grpSpPr>
          <a:xfrm>
            <a:off x="678942" y="2038350"/>
            <a:ext cx="10827258" cy="3371850"/>
            <a:chOff x="678942" y="2038350"/>
            <a:chExt cx="10827258" cy="3371850"/>
          </a:xfrm>
        </p:grpSpPr>
        <p:sp>
          <p:nvSpPr>
            <p:cNvPr id="6" name="Rectangle 6"/>
            <p:cNvSpPr/>
            <p:nvPr/>
          </p:nvSpPr>
          <p:spPr>
            <a:xfrm>
              <a:off x="8134350" y="2038350"/>
              <a:ext cx="1600200" cy="3371850"/>
            </a:xfrm>
            <a:prstGeom prst="rect">
              <a:avLst/>
            </a:prstGeom>
            <a:solidFill>
              <a:srgbClr val="EDF4F0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9810750" y="2038350"/>
              <a:ext cx="1695450" cy="3371850"/>
            </a:xfrm>
            <a:prstGeom prst="rect">
              <a:avLst/>
            </a:prstGeom>
            <a:solidFill>
              <a:srgbClr val="EDF4F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0847" y="2286000"/>
              <a:ext cx="3048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A6B7B"/>
                  </a:solidFill>
                  <a:latin typeface="+mn-lt"/>
                  <a:ea typeface="+mn-ea"/>
                  <a:cs typeface="+mn-cs"/>
                </a:rPr>
                <a:t>准则</a:t>
              </a:r>
              <a:endParaRPr lang="zh-CN" sz="1200" b="1" dirty="0">
                <a:solidFill>
                  <a:srgbClr val="5A6B7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710815" y="2273300"/>
              <a:ext cx="67437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Peterson</a:t>
              </a:r>
              <a:endParaRPr lang="en-US" sz="1200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61485" y="2273300"/>
              <a:ext cx="96393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Test-and-Set</a:t>
              </a:r>
              <a:endParaRPr lang="en-US" sz="1200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57900" y="2273300"/>
              <a:ext cx="7620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整型信号量</a:t>
              </a:r>
              <a:endParaRPr lang="zh-CN" sz="1200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77250" y="2273300"/>
              <a:ext cx="9144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D4E7C"/>
                  </a:solidFill>
                  <a:latin typeface="+mn-lt"/>
                  <a:ea typeface="+mn-ea"/>
                  <a:cs typeface="+mn-cs"/>
                </a:rPr>
                <a:t>记录型信号量</a:t>
              </a:r>
              <a:endParaRPr lang="zh-CN" sz="1200" b="1" dirty="0">
                <a:solidFill>
                  <a:srgbClr val="1D4E7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15600" y="2273300"/>
              <a:ext cx="3048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D4E7C"/>
                  </a:solidFill>
                  <a:latin typeface="+mn-lt"/>
                  <a:ea typeface="+mn-ea"/>
                  <a:cs typeface="+mn-cs"/>
                </a:rPr>
                <a:t>管程</a:t>
              </a:r>
              <a:endParaRPr lang="zh-CN" sz="1200" b="1" dirty="0">
                <a:solidFill>
                  <a:srgbClr val="1D4E7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Line 14"/>
            <p:cNvSpPr/>
            <p:nvPr/>
          </p:nvSpPr>
          <p:spPr>
            <a:xfrm>
              <a:off x="685800" y="25336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B9C6D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78942" y="2978150"/>
              <a:ext cx="81280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dirty="0">
                  <a:solidFill>
                    <a:srgbClr val="33475B"/>
                  </a:solidFill>
                  <a:latin typeface="+mn-lt"/>
                  <a:ea typeface="+mn-ea"/>
                  <a:cs typeface="+mn-cs"/>
                </a:rPr>
                <a:t>空闲让进</a:t>
              </a:r>
              <a:endParaRPr lang="zh-CN" sz="1600" dirty="0">
                <a:solidFill>
                  <a:srgbClr val="33475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958783" y="2940050"/>
              <a:ext cx="178435" cy="307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00" dirty="0">
                  <a:solidFill>
                    <a:srgbClr val="2F7D5B"/>
                  </a:solidFill>
                  <a:latin typeface="+mn-lt"/>
                  <a:ea typeface="+mn-ea"/>
                  <a:cs typeface="+mn-cs"/>
                </a:rPr>
                <a:t>√</a:t>
              </a:r>
              <a:endParaRPr lang="zh-CN" sz="2000" dirty="0">
                <a:solidFill>
                  <a:srgbClr val="2F7D5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54233" y="2940050"/>
              <a:ext cx="178435" cy="307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00" dirty="0">
                  <a:solidFill>
                    <a:srgbClr val="2F7D5B"/>
                  </a:solidFill>
                  <a:latin typeface="+mn-lt"/>
                  <a:ea typeface="+mn-ea"/>
                  <a:cs typeface="+mn-cs"/>
                </a:rPr>
                <a:t>√</a:t>
              </a:r>
              <a:endParaRPr lang="zh-CN" sz="1650" dirty="0">
                <a:solidFill>
                  <a:srgbClr val="2F7D5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49683" y="2940050"/>
              <a:ext cx="178435" cy="307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sz="2000" dirty="0">
                  <a:solidFill>
                    <a:srgbClr val="2F7D5B"/>
                  </a:solidFill>
                  <a:sym typeface="+mn-ea"/>
                </a:rPr>
                <a:t>√</a:t>
              </a:r>
              <a:endParaRPr sz="2000" dirty="0">
                <a:solidFill>
                  <a:srgbClr val="2F7D5B"/>
                </a:solidFill>
                <a:sym typeface="+mn-ea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845233" y="2940050"/>
              <a:ext cx="178435" cy="307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sz="2000" dirty="0">
                  <a:solidFill>
                    <a:srgbClr val="2F7D5B"/>
                  </a:solidFill>
                  <a:sym typeface="+mn-ea"/>
                </a:rPr>
                <a:t>√</a:t>
              </a:r>
              <a:endParaRPr sz="2000" dirty="0">
                <a:solidFill>
                  <a:srgbClr val="2F7D5B"/>
                </a:solidFill>
                <a:sym typeface="+mn-ea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578783" y="2940050"/>
              <a:ext cx="178435" cy="307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sz="2000" dirty="0">
                  <a:solidFill>
                    <a:srgbClr val="2F7D5B"/>
                  </a:solidFill>
                  <a:sym typeface="+mn-ea"/>
                </a:rPr>
                <a:t>√</a:t>
              </a:r>
              <a:endParaRPr sz="2000" dirty="0">
                <a:solidFill>
                  <a:srgbClr val="2F7D5B"/>
                </a:solidFill>
                <a:sym typeface="+mn-ea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78942" y="3644900"/>
              <a:ext cx="81280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dirty="0">
                  <a:solidFill>
                    <a:srgbClr val="33475B"/>
                  </a:solidFill>
                  <a:latin typeface="+mn-lt"/>
                  <a:ea typeface="+mn-ea"/>
                  <a:cs typeface="+mn-cs"/>
                </a:rPr>
                <a:t>忙则等待</a:t>
              </a:r>
              <a:endParaRPr lang="zh-CN" sz="1600" dirty="0">
                <a:solidFill>
                  <a:srgbClr val="33475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58783" y="3606800"/>
              <a:ext cx="178435" cy="307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00" dirty="0">
                  <a:solidFill>
                    <a:srgbClr val="2F7D5B"/>
                  </a:solidFill>
                  <a:latin typeface="+mn-lt"/>
                  <a:ea typeface="+mn-ea"/>
                  <a:cs typeface="+mn-cs"/>
                </a:rPr>
                <a:t>√</a:t>
              </a:r>
              <a:endParaRPr lang="zh-CN" sz="2000" dirty="0">
                <a:solidFill>
                  <a:srgbClr val="2F7D5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54233" y="3606800"/>
              <a:ext cx="178435" cy="307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sz="2000" dirty="0">
                  <a:solidFill>
                    <a:srgbClr val="2F7D5B"/>
                  </a:solidFill>
                  <a:sym typeface="+mn-ea"/>
                </a:rPr>
                <a:t>√</a:t>
              </a:r>
              <a:endParaRPr sz="2000" dirty="0">
                <a:solidFill>
                  <a:srgbClr val="2F7D5B"/>
                </a:solidFill>
                <a:sym typeface="+mn-ea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49683" y="3606800"/>
              <a:ext cx="178435" cy="307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sz="2000" dirty="0">
                  <a:solidFill>
                    <a:srgbClr val="2F7D5B"/>
                  </a:solidFill>
                  <a:sym typeface="+mn-ea"/>
                </a:rPr>
                <a:t>√</a:t>
              </a:r>
              <a:endParaRPr sz="2000" dirty="0">
                <a:solidFill>
                  <a:srgbClr val="2F7D5B"/>
                </a:solidFill>
                <a:sym typeface="+mn-ea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845233" y="3606800"/>
              <a:ext cx="178435" cy="307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sz="2000" dirty="0">
                  <a:solidFill>
                    <a:srgbClr val="2F7D5B"/>
                  </a:solidFill>
                  <a:sym typeface="+mn-ea"/>
                </a:rPr>
                <a:t>√</a:t>
              </a:r>
              <a:endParaRPr sz="2000" dirty="0">
                <a:solidFill>
                  <a:srgbClr val="2F7D5B"/>
                </a:solidFill>
                <a:sym typeface="+mn-ea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578783" y="3606800"/>
              <a:ext cx="178435" cy="307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sz="2000" dirty="0">
                  <a:solidFill>
                    <a:srgbClr val="2F7D5B"/>
                  </a:solidFill>
                  <a:sym typeface="+mn-ea"/>
                </a:rPr>
                <a:t>√</a:t>
              </a:r>
              <a:endParaRPr sz="2000" dirty="0">
                <a:solidFill>
                  <a:srgbClr val="2F7D5B"/>
                </a:solidFill>
                <a:sym typeface="+mn-ea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8942" y="4311650"/>
              <a:ext cx="81280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dirty="0">
                  <a:solidFill>
                    <a:srgbClr val="33475B"/>
                  </a:solidFill>
                  <a:latin typeface="+mn-lt"/>
                  <a:ea typeface="+mn-ea"/>
                  <a:cs typeface="+mn-cs"/>
                </a:rPr>
                <a:t>有限等待</a:t>
              </a:r>
              <a:endParaRPr lang="zh-CN" sz="1600" dirty="0">
                <a:solidFill>
                  <a:srgbClr val="33475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958783" y="4273550"/>
              <a:ext cx="178435" cy="307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00" dirty="0">
                  <a:solidFill>
                    <a:srgbClr val="2F7D5B"/>
                  </a:solidFill>
                  <a:latin typeface="+mn-lt"/>
                  <a:ea typeface="+mn-ea"/>
                  <a:cs typeface="+mn-cs"/>
                </a:rPr>
                <a:t>√</a:t>
              </a:r>
              <a:endParaRPr lang="zh-CN" sz="2000" dirty="0">
                <a:solidFill>
                  <a:srgbClr val="2F7D5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49153" y="4273550"/>
              <a:ext cx="188595" cy="307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sz="2000" dirty="0">
                  <a:solidFill>
                    <a:srgbClr val="B23A2E"/>
                  </a:solidFill>
                  <a:sym typeface="+mn-ea"/>
                </a:rPr>
                <a:t>×</a:t>
              </a:r>
              <a:endParaRPr sz="2000" dirty="0">
                <a:solidFill>
                  <a:srgbClr val="B23A2E"/>
                </a:solidFill>
                <a:sym typeface="+mn-ea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62700" y="4273550"/>
              <a:ext cx="152400" cy="307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00" dirty="0">
                  <a:solidFill>
                    <a:srgbClr val="B8860B"/>
                  </a:solidFill>
                  <a:latin typeface="+mn-lt"/>
                  <a:ea typeface="+mn-ea"/>
                  <a:cs typeface="+mn-cs"/>
                </a:rPr>
                <a:t>△</a:t>
              </a:r>
              <a:endParaRPr lang="zh-CN" sz="2000" dirty="0">
                <a:solidFill>
                  <a:srgbClr val="B8860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845233" y="4273550"/>
              <a:ext cx="178435" cy="307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sz="2000" dirty="0">
                  <a:solidFill>
                    <a:srgbClr val="2F7D5B"/>
                  </a:solidFill>
                  <a:sym typeface="+mn-ea"/>
                </a:rPr>
                <a:t>√</a:t>
              </a:r>
              <a:endParaRPr sz="2000" dirty="0">
                <a:solidFill>
                  <a:srgbClr val="2F7D5B"/>
                </a:solidFill>
                <a:sym typeface="+mn-ea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578783" y="4273550"/>
              <a:ext cx="178435" cy="307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sz="2000" dirty="0">
                  <a:solidFill>
                    <a:srgbClr val="2F7D5B"/>
                  </a:solidFill>
                  <a:sym typeface="+mn-ea"/>
                </a:rPr>
                <a:t>√</a:t>
              </a:r>
              <a:endParaRPr sz="2000" dirty="0">
                <a:solidFill>
                  <a:srgbClr val="2F7D5B"/>
                </a:solidFill>
                <a:sym typeface="+mn-ea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8942" y="4978400"/>
              <a:ext cx="81280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dirty="0">
                  <a:solidFill>
                    <a:srgbClr val="33475B"/>
                  </a:solidFill>
                  <a:latin typeface="+mn-lt"/>
                  <a:ea typeface="+mn-ea"/>
                  <a:cs typeface="+mn-cs"/>
                </a:rPr>
                <a:t>让权等待</a:t>
              </a:r>
              <a:endParaRPr lang="zh-CN" sz="1600" dirty="0">
                <a:solidFill>
                  <a:srgbClr val="33475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953703" y="4940300"/>
              <a:ext cx="188595" cy="307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00" dirty="0">
                  <a:solidFill>
                    <a:srgbClr val="B23A2E"/>
                  </a:solidFill>
                  <a:latin typeface="+mn-lt"/>
                  <a:ea typeface="+mn-ea"/>
                  <a:cs typeface="+mn-cs"/>
                </a:rPr>
                <a:t>×</a:t>
              </a:r>
              <a:endParaRPr lang="zh-CN" sz="2000" dirty="0">
                <a:solidFill>
                  <a:srgbClr val="B23A2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649153" y="4940300"/>
              <a:ext cx="188595" cy="307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sz="2000" dirty="0">
                  <a:solidFill>
                    <a:srgbClr val="B23A2E"/>
                  </a:solidFill>
                  <a:sym typeface="+mn-ea"/>
                </a:rPr>
                <a:t>×</a:t>
              </a:r>
              <a:endParaRPr sz="2000" dirty="0">
                <a:solidFill>
                  <a:srgbClr val="B23A2E"/>
                </a:solidFill>
                <a:sym typeface="+mn-ea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44603" y="4940300"/>
              <a:ext cx="188595" cy="307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sz="2000" dirty="0">
                  <a:solidFill>
                    <a:srgbClr val="B23A2E"/>
                  </a:solidFill>
                  <a:sym typeface="+mn-ea"/>
                </a:rPr>
                <a:t>×</a:t>
              </a:r>
              <a:endParaRPr sz="2000" dirty="0">
                <a:solidFill>
                  <a:srgbClr val="B23A2E"/>
                </a:solidFill>
                <a:sym typeface="+mn-ea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845233" y="4940300"/>
              <a:ext cx="178435" cy="307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sz="2000" dirty="0">
                  <a:solidFill>
                    <a:srgbClr val="2F7D5B"/>
                  </a:solidFill>
                  <a:sym typeface="+mn-ea"/>
                </a:rPr>
                <a:t>√</a:t>
              </a:r>
              <a:endParaRPr sz="2000" dirty="0">
                <a:solidFill>
                  <a:srgbClr val="2F7D5B"/>
                </a:solidFill>
                <a:sym typeface="+mn-ea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578783" y="4940300"/>
              <a:ext cx="178435" cy="307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sz="2000" dirty="0">
                  <a:solidFill>
                    <a:srgbClr val="2F7D5B"/>
                  </a:solidFill>
                  <a:sym typeface="+mn-ea"/>
                </a:rPr>
                <a:t>√</a:t>
              </a:r>
              <a:endParaRPr sz="2000" dirty="0">
                <a:solidFill>
                  <a:srgbClr val="2F7D5B"/>
                </a:solidFill>
                <a:sym typeface="+mn-ea"/>
              </a:endParaRPr>
            </a:p>
          </p:txBody>
        </p:sp>
      </p:grpSp>
      <p:grpSp>
        <p:nvGrpSpPr>
          <p:cNvPr id="41" name="legend"/>
          <p:cNvGrpSpPr/>
          <p:nvPr/>
        </p:nvGrpSpPr>
        <p:grpSpPr>
          <a:xfrm>
            <a:off x="680847" y="5657850"/>
            <a:ext cx="2275205" cy="184150"/>
            <a:chOff x="680847" y="5657850"/>
            <a:chExt cx="2275205" cy="184150"/>
          </a:xfrm>
        </p:grpSpPr>
        <p:sp>
          <p:nvSpPr>
            <p:cNvPr id="40" name="TextBox 40"/>
            <p:cNvSpPr txBox="1"/>
            <p:nvPr/>
          </p:nvSpPr>
          <p:spPr>
            <a:xfrm>
              <a:off x="680847" y="5657850"/>
              <a:ext cx="227520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7B"/>
                  </a:solidFill>
                  <a:latin typeface="+mn-lt"/>
                  <a:ea typeface="+mn-ea"/>
                  <a:cs typeface="+mn-cs"/>
                </a:rPr>
                <a:t>√ 满足　　△ 看调度　　× 不满足</a:t>
              </a:r>
              <a:endParaRPr lang="zh-CN" sz="1200" dirty="0">
                <a:solidFill>
                  <a:srgbClr val="5A6B7B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3" name="verdict"/>
          <p:cNvGrpSpPr/>
          <p:nvPr/>
        </p:nvGrpSpPr>
        <p:grpSpPr>
          <a:xfrm>
            <a:off x="680085" y="5975350"/>
            <a:ext cx="4800600" cy="215265"/>
            <a:chOff x="680085" y="5975350"/>
            <a:chExt cx="4800600" cy="215265"/>
          </a:xfrm>
        </p:grpSpPr>
        <p:sp>
          <p:nvSpPr>
            <p:cNvPr id="42" name="TextBox 42"/>
            <p:cNvSpPr txBox="1"/>
            <p:nvPr/>
          </p:nvSpPr>
          <p:spPr>
            <a:xfrm>
              <a:off x="680085" y="5975350"/>
              <a:ext cx="4800600" cy="215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记录型信号量和管程四条都满足，所以实际系统里用得最多。</a:t>
              </a:r>
              <a:endParaRPr lang="zh-CN" sz="1400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681038" y="6400800"/>
            <a:ext cx="10829924" cy="184150"/>
            <a:chOff x="681038" y="6400800"/>
            <a:chExt cx="10829924" cy="184150"/>
          </a:xfrm>
        </p:grpSpPr>
        <p:sp>
          <p:nvSpPr>
            <p:cNvPr id="44" name="TextBox 44"/>
            <p:cNvSpPr txBox="1"/>
            <p:nvPr/>
          </p:nvSpPr>
          <p:spPr>
            <a:xfrm>
              <a:off x="681038" y="6400800"/>
              <a:ext cx="187579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A8B9B"/>
                  </a:solidFill>
                  <a:latin typeface="+mn-lt"/>
                  <a:ea typeface="+mn-ea"/>
                  <a:cs typeface="+mn-cs"/>
                </a:rPr>
                <a:t>第 4 章 进程同步 · 课堂回顾</a:t>
              </a:r>
              <a:endParaRPr lang="zh-CN" sz="1200" dirty="0">
                <a:solidFill>
                  <a:srgbClr val="7A8B9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997247" y="6400800"/>
              <a:ext cx="51371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A8B9B"/>
                  </a:solidFill>
                  <a:latin typeface="+mn-lt"/>
                  <a:ea typeface="+mn-ea"/>
                  <a:cs typeface="+mn-cs"/>
                </a:rPr>
                <a:t>11 / 1</a:t>
              </a:r>
              <a:r>
                <a:rPr lang="en-US" altLang="zh-CN" sz="1200" dirty="0">
                  <a:solidFill>
                    <a:srgbClr val="7A8B9B"/>
                  </a:solidFill>
                  <a:latin typeface="+mn-lt"/>
                  <a:ea typeface="+mn-ea"/>
                  <a:cs typeface="+mn-cs"/>
                </a:rPr>
                <a:t>4</a:t>
              </a:r>
              <a:endParaRPr lang="en-US" altLang="zh-CN" sz="1200" dirty="0">
                <a:solidFill>
                  <a:srgbClr val="7A8B9B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72084" y="704850"/>
            <a:ext cx="10834116" cy="866775"/>
            <a:chOff x="672084" y="704850"/>
            <a:chExt cx="10834116" cy="866775"/>
          </a:xfrm>
        </p:grpSpPr>
        <p:sp>
          <p:nvSpPr>
            <p:cNvPr id="2" name="TextBox 2"/>
            <p:cNvSpPr txBox="1"/>
            <p:nvPr/>
          </p:nvSpPr>
          <p:spPr>
            <a:xfrm>
              <a:off x="680847" y="704850"/>
              <a:ext cx="140843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12" dirty="0">
                  <a:solidFill>
                    <a:srgbClr val="1D4E7C"/>
                  </a:solidFill>
                  <a:latin typeface="+mj-lt"/>
                  <a:ea typeface="+mj-ea"/>
                  <a:cs typeface="+mj-cs"/>
                </a:rPr>
                <a:t>BLOOM 05 / 评估</a:t>
              </a:r>
              <a:endParaRPr lang="zh-CN" sz="1200" spc="112" dirty="0">
                <a:solidFill>
                  <a:srgbClr val="1D4E7C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1003300"/>
              <a:ext cx="4479290" cy="492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200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Linux 里怎么选同步方式</a:t>
              </a:r>
              <a:endParaRPr lang="zh-CN" sz="3200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5621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BD6E0"/>
              </a:solidFill>
            </a:ln>
          </p:spPr>
        </p:sp>
      </p:grpSp>
      <p:grpSp>
        <p:nvGrpSpPr>
          <p:cNvPr id="12" name="opt-atomic"/>
          <p:cNvGrpSpPr/>
          <p:nvPr/>
        </p:nvGrpSpPr>
        <p:grpSpPr>
          <a:xfrm>
            <a:off x="685800" y="1866900"/>
            <a:ext cx="2533650" cy="1771650"/>
            <a:chOff x="685800" y="1866900"/>
            <a:chExt cx="2533650" cy="1771650"/>
          </a:xfrm>
        </p:grpSpPr>
        <p:sp>
          <p:nvSpPr>
            <p:cNvPr id="6" name="Rectangle 6"/>
            <p:cNvSpPr/>
            <p:nvPr/>
          </p:nvSpPr>
          <p:spPr>
            <a:xfrm>
              <a:off x="685800" y="1866900"/>
              <a:ext cx="2533650" cy="1771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E4EC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09638" y="2089150"/>
              <a:ext cx="50292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8A9BAB"/>
                  </a:solidFill>
                  <a:latin typeface="+mj-lt"/>
                  <a:ea typeface="+mj-ea"/>
                  <a:cs typeface="+mj-cs"/>
                </a:rPr>
                <a:t>ATOMIC</a:t>
              </a:r>
              <a:endParaRPr lang="en-US" sz="1200" dirty="0">
                <a:solidFill>
                  <a:srgbClr val="8A9BAB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6780" y="2336800"/>
              <a:ext cx="9144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原子操作</a:t>
              </a:r>
              <a:endParaRPr lang="zh-CN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9447" y="2724150"/>
              <a:ext cx="13716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475B"/>
                  </a:solidFill>
                  <a:latin typeface="+mn-lt"/>
                  <a:ea typeface="+mn-ea"/>
                  <a:cs typeface="+mn-cs"/>
                </a:rPr>
                <a:t>只改一个变量时用。</a:t>
              </a:r>
              <a:endParaRPr lang="zh-CN" sz="1200" dirty="0">
                <a:solidFill>
                  <a:srgbClr val="33475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9447" y="2933700"/>
              <a:ext cx="16764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475B"/>
                  </a:solidFill>
                  <a:latin typeface="+mn-lt"/>
                  <a:ea typeface="+mn-ea"/>
                  <a:cs typeface="+mn-cs"/>
                </a:rPr>
                <a:t>不会被打断，开销最小。</a:t>
              </a:r>
              <a:endParaRPr lang="zh-CN" sz="1200" dirty="0">
                <a:solidFill>
                  <a:srgbClr val="33475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9638" y="3238500"/>
              <a:ext cx="6096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F7D5B"/>
                  </a:solidFill>
                  <a:latin typeface="+mn-lt"/>
                  <a:ea typeface="+mn-ea"/>
                  <a:cs typeface="+mn-cs"/>
                </a:rPr>
                <a:t>开销最小</a:t>
              </a:r>
              <a:endParaRPr lang="zh-CN" sz="1200" dirty="0">
                <a:solidFill>
                  <a:srgbClr val="2F7D5B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9" name="opt-spin"/>
          <p:cNvGrpSpPr/>
          <p:nvPr/>
        </p:nvGrpSpPr>
        <p:grpSpPr>
          <a:xfrm>
            <a:off x="3448050" y="1866900"/>
            <a:ext cx="2533650" cy="1771650"/>
            <a:chOff x="3448050" y="1866900"/>
            <a:chExt cx="2533650" cy="1771650"/>
          </a:xfrm>
        </p:grpSpPr>
        <p:sp>
          <p:nvSpPr>
            <p:cNvPr id="13" name="Rectangle 13"/>
            <p:cNvSpPr/>
            <p:nvPr/>
          </p:nvSpPr>
          <p:spPr>
            <a:xfrm>
              <a:off x="3448050" y="1866900"/>
              <a:ext cx="2533650" cy="1771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E4EC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671888" y="2089150"/>
              <a:ext cx="67056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8A9BAB"/>
                  </a:solidFill>
                  <a:latin typeface="+mj-lt"/>
                  <a:ea typeface="+mj-ea"/>
                  <a:cs typeface="+mj-cs"/>
                </a:rPr>
                <a:t>SPINLOCK</a:t>
              </a:r>
              <a:endParaRPr lang="en-US" sz="1200" dirty="0">
                <a:solidFill>
                  <a:srgbClr val="8A9BAB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69030" y="2336800"/>
              <a:ext cx="6858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自旋锁</a:t>
              </a:r>
              <a:endParaRPr lang="zh-CN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71697" y="2724150"/>
              <a:ext cx="19812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sz="1200" dirty="0">
                  <a:solidFill>
                    <a:srgbClr val="33475B"/>
                  </a:solidFill>
                  <a:sym typeface="+mn-ea"/>
                </a:rPr>
                <a:t>多处理器、临界区很短时用。</a:t>
              </a:r>
              <a:endParaRPr sz="1200" dirty="0">
                <a:solidFill>
                  <a:srgbClr val="33475B"/>
                </a:solidFill>
                <a:sym typeface="+mn-ea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71697" y="2933700"/>
              <a:ext cx="177101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sz="1200" dirty="0">
                  <a:solidFill>
                    <a:srgbClr val="33475B"/>
                  </a:solidFill>
                  <a:sym typeface="+mn-ea"/>
                </a:rPr>
                <a:t>等的时候占着 CPU 空转。</a:t>
              </a:r>
              <a:endParaRPr sz="1200" dirty="0">
                <a:solidFill>
                  <a:srgbClr val="33475B"/>
                </a:solidFill>
                <a:sym typeface="+mn-ea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71888" y="3238500"/>
              <a:ext cx="10668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8860B"/>
                  </a:solidFill>
                  <a:latin typeface="+mn-lt"/>
                  <a:ea typeface="+mn-ea"/>
                  <a:cs typeface="+mn-cs"/>
                </a:rPr>
                <a:t>不能睡眠的场景</a:t>
              </a:r>
              <a:endParaRPr lang="zh-CN" sz="1200" dirty="0">
                <a:solidFill>
                  <a:srgbClr val="B8860B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6" name="opt-mutex"/>
          <p:cNvGrpSpPr/>
          <p:nvPr/>
        </p:nvGrpSpPr>
        <p:grpSpPr>
          <a:xfrm>
            <a:off x="6210300" y="1866900"/>
            <a:ext cx="2533650" cy="1771650"/>
            <a:chOff x="6210300" y="1866900"/>
            <a:chExt cx="2533650" cy="1771650"/>
          </a:xfrm>
        </p:grpSpPr>
        <p:sp>
          <p:nvSpPr>
            <p:cNvPr id="20" name="Rectangle 20"/>
            <p:cNvSpPr/>
            <p:nvPr/>
          </p:nvSpPr>
          <p:spPr>
            <a:xfrm>
              <a:off x="6210300" y="1866900"/>
              <a:ext cx="2533650" cy="1771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E4E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34138" y="2089150"/>
              <a:ext cx="4191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8A9BAB"/>
                  </a:solidFill>
                  <a:latin typeface="+mj-lt"/>
                  <a:ea typeface="+mj-ea"/>
                  <a:cs typeface="+mj-cs"/>
                </a:rPr>
                <a:t>MUTEX</a:t>
              </a:r>
              <a:endParaRPr lang="en-US" sz="1200" dirty="0">
                <a:solidFill>
                  <a:srgbClr val="8A9BAB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31280" y="2336800"/>
              <a:ext cx="6858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互斥锁</a:t>
              </a:r>
              <a:endParaRPr lang="zh-CN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33947" y="2724150"/>
              <a:ext cx="13716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sz="1200" dirty="0">
                  <a:solidFill>
                    <a:srgbClr val="33475B"/>
                  </a:solidFill>
                  <a:sym typeface="+mn-ea"/>
                </a:rPr>
                <a:t>临界区比较长时用。</a:t>
              </a:r>
              <a:endParaRPr sz="1200" dirty="0">
                <a:solidFill>
                  <a:srgbClr val="33475B"/>
                </a:solidFill>
                <a:sym typeface="+mn-ea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33947" y="2933700"/>
              <a:ext cx="187833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sz="1200" dirty="0">
                  <a:solidFill>
                    <a:srgbClr val="33475B"/>
                  </a:solidFill>
                  <a:sym typeface="+mn-ea"/>
                </a:rPr>
                <a:t>等不到就睡眠，让出 CPU。</a:t>
              </a:r>
              <a:endParaRPr sz="1200" dirty="0">
                <a:solidFill>
                  <a:srgbClr val="33475B"/>
                </a:solidFill>
                <a:sym typeface="+mn-ea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34138" y="3238500"/>
              <a:ext cx="9144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sz="1200" dirty="0">
                  <a:solidFill>
                    <a:srgbClr val="2F7D5B"/>
                  </a:solidFill>
                  <a:sym typeface="+mn-ea"/>
                </a:rPr>
                <a:t>等得久就用它</a:t>
              </a:r>
              <a:endParaRPr sz="1200" dirty="0">
                <a:solidFill>
                  <a:srgbClr val="2F7D5B"/>
                </a:solidFill>
                <a:sym typeface="+mn-ea"/>
              </a:endParaRPr>
            </a:p>
          </p:txBody>
        </p:sp>
      </p:grpSp>
      <p:grpSp>
        <p:nvGrpSpPr>
          <p:cNvPr id="33" name="opt-sema"/>
          <p:cNvGrpSpPr/>
          <p:nvPr/>
        </p:nvGrpSpPr>
        <p:grpSpPr>
          <a:xfrm>
            <a:off x="8972550" y="1866900"/>
            <a:ext cx="2533650" cy="1771650"/>
            <a:chOff x="8972550" y="1866900"/>
            <a:chExt cx="2533650" cy="1771650"/>
          </a:xfrm>
        </p:grpSpPr>
        <p:sp>
          <p:nvSpPr>
            <p:cNvPr id="27" name="Rectangle 27"/>
            <p:cNvSpPr/>
            <p:nvPr/>
          </p:nvSpPr>
          <p:spPr>
            <a:xfrm>
              <a:off x="8972550" y="1866900"/>
              <a:ext cx="2533650" cy="1771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E4EC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196388" y="2089150"/>
              <a:ext cx="75438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8A9BAB"/>
                  </a:solidFill>
                  <a:latin typeface="+mj-lt"/>
                  <a:ea typeface="+mj-ea"/>
                  <a:cs typeface="+mj-cs"/>
                </a:rPr>
                <a:t>SEMAPHORE</a:t>
              </a:r>
              <a:endParaRPr lang="en-US" sz="1200" dirty="0">
                <a:solidFill>
                  <a:srgbClr val="8A9BAB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193530" y="2336800"/>
              <a:ext cx="6858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信号量</a:t>
              </a:r>
              <a:endParaRPr lang="zh-CN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196197" y="2724150"/>
              <a:ext cx="12192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sz="1200" dirty="0">
                  <a:solidFill>
                    <a:srgbClr val="33475B"/>
                  </a:solidFill>
                  <a:sym typeface="+mn-ea"/>
                </a:rPr>
                <a:t>资源有多份时用。</a:t>
              </a:r>
              <a:endParaRPr sz="1200" dirty="0">
                <a:solidFill>
                  <a:srgbClr val="33475B"/>
                </a:solidFill>
                <a:sym typeface="+mn-ea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196197" y="2933700"/>
              <a:ext cx="18288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sz="1200" dirty="0">
                  <a:solidFill>
                    <a:srgbClr val="33475B"/>
                  </a:solidFill>
                  <a:sym typeface="+mn-ea"/>
                </a:rPr>
                <a:t>可以同时被几个进程持有。</a:t>
              </a:r>
              <a:endParaRPr sz="1200" dirty="0">
                <a:solidFill>
                  <a:srgbClr val="33475B"/>
                </a:solidFill>
                <a:sym typeface="+mn-ea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196388" y="3238500"/>
              <a:ext cx="9144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sz="1200" dirty="0">
                  <a:solidFill>
                    <a:srgbClr val="2F7D5B"/>
                  </a:solidFill>
                  <a:sym typeface="+mn-ea"/>
                </a:rPr>
                <a:t>多份同类资源</a:t>
              </a:r>
              <a:endParaRPr sz="1200" dirty="0">
                <a:solidFill>
                  <a:srgbClr val="2F7D5B"/>
                </a:solidFill>
                <a:sym typeface="+mn-ea"/>
              </a:endParaRPr>
            </a:p>
          </p:txBody>
        </p:sp>
      </p:grpSp>
      <p:grpSp>
        <p:nvGrpSpPr>
          <p:cNvPr id="38" name="decision"/>
          <p:cNvGrpSpPr/>
          <p:nvPr/>
        </p:nvGrpSpPr>
        <p:grpSpPr>
          <a:xfrm>
            <a:off x="685800" y="3886200"/>
            <a:ext cx="10820400" cy="857250"/>
            <a:chOff x="685800" y="3886200"/>
            <a:chExt cx="10820400" cy="857250"/>
          </a:xfrm>
        </p:grpSpPr>
        <p:sp>
          <p:nvSpPr>
            <p:cNvPr id="34" name="Rectangle 34"/>
            <p:cNvSpPr/>
            <p:nvPr/>
          </p:nvSpPr>
          <p:spPr>
            <a:xfrm>
              <a:off x="685800" y="3886200"/>
              <a:ext cx="10820400" cy="857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E4EC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85800" y="3886200"/>
              <a:ext cx="57150" cy="857250"/>
            </a:xfrm>
            <a:prstGeom prst="rect">
              <a:avLst/>
            </a:prstGeom>
            <a:solidFill>
              <a:srgbClr val="1D4E7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85647" y="4114800"/>
              <a:ext cx="6096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4E7C"/>
                  </a:solidFill>
                  <a:latin typeface="+mn-lt"/>
                  <a:ea typeface="+mn-ea"/>
                  <a:cs typeface="+mn-cs"/>
                </a:rPr>
                <a:t>选择顺序</a:t>
              </a:r>
              <a:endParaRPr lang="zh-CN" sz="1200" b="1" dirty="0">
                <a:solidFill>
                  <a:srgbClr val="1D4E7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83742" y="4368800"/>
              <a:ext cx="650240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能不用锁就不用；等得短用自旋；等得久用睡眠；资源有多份用信号量。</a:t>
              </a:r>
              <a:endParaRPr lang="zh-CN" sz="1600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2" name="harmony"/>
          <p:cNvGrpSpPr/>
          <p:nvPr/>
        </p:nvGrpSpPr>
        <p:grpSpPr>
          <a:xfrm>
            <a:off x="680085" y="5118100"/>
            <a:ext cx="4947285" cy="781050"/>
            <a:chOff x="680085" y="5118100"/>
            <a:chExt cx="4947285" cy="781050"/>
          </a:xfrm>
        </p:grpSpPr>
        <p:sp>
          <p:nvSpPr>
            <p:cNvPr id="39" name="TextBox 39"/>
            <p:cNvSpPr txBox="1"/>
            <p:nvPr/>
          </p:nvSpPr>
          <p:spPr>
            <a:xfrm>
              <a:off x="681038" y="5118100"/>
              <a:ext cx="234315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90" dirty="0">
                  <a:solidFill>
                    <a:srgbClr val="8A9BAB"/>
                  </a:solidFill>
                  <a:latin typeface="+mj-lt"/>
                  <a:ea typeface="+mj-ea"/>
                  <a:cs typeface="+mj-cs"/>
                </a:rPr>
                <a:t>HARMONYOS IPC / 另一套实现</a:t>
              </a:r>
              <a:endParaRPr lang="zh-CN" sz="1200" spc="90" dirty="0">
                <a:solidFill>
                  <a:srgbClr val="8A9BAB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0085" y="5403850"/>
              <a:ext cx="4947285" cy="215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33475B"/>
                  </a:solidFill>
                  <a:latin typeface="+mn-lt"/>
                  <a:ea typeface="+mn-ea"/>
                  <a:cs typeface="+mn-cs"/>
                </a:rPr>
                <a:t>管道 · 信号 · 消息队列 · 共享内存 · 信号量 · 互斥锁 · 快锁 · 事件</a:t>
              </a:r>
              <a:endParaRPr lang="zh-CN" sz="1400" dirty="0">
                <a:solidFill>
                  <a:srgbClr val="33475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0847" y="5715000"/>
              <a:ext cx="41148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A8B9B"/>
                  </a:solidFill>
                  <a:latin typeface="+mn-lt"/>
                  <a:ea typeface="+mn-ea"/>
                  <a:cs typeface="+mn-cs"/>
                </a:rPr>
                <a:t>名字不一样，要解决的问题一样：谁等、等多久、谁来唤醒。</a:t>
              </a:r>
              <a:endParaRPr lang="zh-CN" sz="1200" dirty="0">
                <a:solidFill>
                  <a:srgbClr val="7A8B9B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681038" y="6400800"/>
            <a:ext cx="10829924" cy="184150"/>
            <a:chOff x="681038" y="6400800"/>
            <a:chExt cx="10829924" cy="184150"/>
          </a:xfrm>
        </p:grpSpPr>
        <p:sp>
          <p:nvSpPr>
            <p:cNvPr id="43" name="TextBox 43"/>
            <p:cNvSpPr txBox="1"/>
            <p:nvPr/>
          </p:nvSpPr>
          <p:spPr>
            <a:xfrm>
              <a:off x="681038" y="6400800"/>
              <a:ext cx="187579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A8B9B"/>
                  </a:solidFill>
                  <a:latin typeface="+mn-lt"/>
                  <a:ea typeface="+mn-ea"/>
                  <a:cs typeface="+mn-cs"/>
                </a:rPr>
                <a:t>第 4 章 进程同步 · 课堂回顾</a:t>
              </a:r>
              <a:endParaRPr lang="zh-CN" sz="1200" dirty="0">
                <a:solidFill>
                  <a:srgbClr val="7A8B9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997247" y="6400800"/>
              <a:ext cx="51371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A8B9B"/>
                  </a:solidFill>
                  <a:latin typeface="+mn-lt"/>
                  <a:ea typeface="+mn-ea"/>
                  <a:cs typeface="+mn-cs"/>
                </a:rPr>
                <a:t>12 / 1</a:t>
              </a:r>
              <a:r>
                <a:rPr lang="en-US" altLang="zh-CN" sz="1200" dirty="0">
                  <a:solidFill>
                    <a:srgbClr val="7A8B9B"/>
                  </a:solidFill>
                  <a:latin typeface="+mn-lt"/>
                  <a:ea typeface="+mn-ea"/>
                  <a:cs typeface="+mn-cs"/>
                </a:rPr>
                <a:t>4</a:t>
              </a:r>
              <a:endParaRPr lang="en-US" altLang="zh-CN" sz="1200" dirty="0">
                <a:solidFill>
                  <a:srgbClr val="7A8B9B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72084" y="704850"/>
            <a:ext cx="10834116" cy="866775"/>
            <a:chOff x="672084" y="704850"/>
            <a:chExt cx="10834116" cy="866775"/>
          </a:xfrm>
        </p:grpSpPr>
        <p:sp>
          <p:nvSpPr>
            <p:cNvPr id="2" name="TextBox 2"/>
            <p:cNvSpPr txBox="1"/>
            <p:nvPr/>
          </p:nvSpPr>
          <p:spPr>
            <a:xfrm>
              <a:off x="680847" y="704850"/>
              <a:ext cx="140843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12" dirty="0">
                  <a:solidFill>
                    <a:srgbClr val="1D4E7C"/>
                  </a:solidFill>
                  <a:latin typeface="+mj-lt"/>
                  <a:ea typeface="+mj-ea"/>
                  <a:cs typeface="+mj-cs"/>
                </a:rPr>
                <a:t>BLOOM 06 / 创新</a:t>
              </a:r>
              <a:endParaRPr lang="zh-CN" sz="1200" spc="112" dirty="0">
                <a:solidFill>
                  <a:srgbClr val="1D4E7C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084" y="1003300"/>
              <a:ext cx="4876800" cy="492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200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分布式互斥：三个经典算法</a:t>
              </a:r>
              <a:endParaRPr lang="zh-CN" sz="3200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5621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BD6E0"/>
              </a:solidFill>
            </a:ln>
          </p:spPr>
        </p:sp>
      </p:grpSp>
      <p:grpSp>
        <p:nvGrpSpPr>
          <p:cNvPr id="20" name="problems"/>
          <p:cNvGrpSpPr/>
          <p:nvPr/>
        </p:nvGrpSpPr>
        <p:grpSpPr>
          <a:xfrm>
            <a:off x="680847" y="1917700"/>
            <a:ext cx="5034153" cy="3143250"/>
            <a:chOff x="680847" y="1917700"/>
            <a:chExt cx="5034153" cy="3143250"/>
          </a:xfrm>
        </p:grpSpPr>
        <p:sp>
          <p:nvSpPr>
            <p:cNvPr id="6" name="TextBox 6"/>
            <p:cNvSpPr txBox="1"/>
            <p:nvPr/>
          </p:nvSpPr>
          <p:spPr>
            <a:xfrm>
              <a:off x="681038" y="1917700"/>
              <a:ext cx="13335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90" dirty="0">
                  <a:solidFill>
                    <a:srgbClr val="8A9BAB"/>
                  </a:solidFill>
                  <a:latin typeface="+mj-lt"/>
                  <a:ea typeface="+mj-ea"/>
                  <a:cs typeface="+mj-cs"/>
                </a:rPr>
                <a:t>WHY IT IS HARD</a:t>
              </a:r>
              <a:endParaRPr lang="en-US" sz="1200" spc="90" dirty="0">
                <a:solidFill>
                  <a:srgbClr val="8A9BAB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81038" y="2355850"/>
              <a:ext cx="1676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4E7C"/>
                  </a:solidFill>
                  <a:latin typeface="+mj-lt"/>
                  <a:ea typeface="+mj-ea"/>
                  <a:cs typeface="+mj-cs"/>
                </a:rPr>
                <a:t>01</a:t>
              </a:r>
              <a:endParaRPr lang="zh-CN" sz="1200" dirty="0">
                <a:solidFill>
                  <a:srgbClr val="1D4E7C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21461" y="2279650"/>
              <a:ext cx="121920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没有共享内存</a:t>
              </a:r>
              <a:endParaRPr lang="zh-CN" sz="1600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23747" y="2590800"/>
              <a:ext cx="27432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7B"/>
                  </a:solidFill>
                  <a:latin typeface="+mn-lt"/>
                  <a:ea typeface="+mn-ea"/>
                  <a:cs typeface="+mn-cs"/>
                </a:rPr>
                <a:t>临界资源在别的机器上，不能直接加锁。</a:t>
              </a:r>
              <a:endParaRPr lang="zh-CN" sz="1200" dirty="0">
                <a:solidFill>
                  <a:srgbClr val="5A6B7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Line 10"/>
            <p:cNvSpPr/>
            <p:nvPr/>
          </p:nvSpPr>
          <p:spPr>
            <a:xfrm>
              <a:off x="685800" y="2876550"/>
              <a:ext cx="5029200" cy="9525"/>
            </a:xfrm>
            <a:custGeom>
              <a:avLst/>
              <a:gdLst/>
              <a:ahLst/>
              <a:cxnLst/>
              <a:rect l="l" t="t" r="r" b="b"/>
              <a:pathLst>
                <a:path w="5029200" h="9525">
                  <a:moveTo>
                    <a:pt x="0" y="0"/>
                  </a:moveTo>
                  <a:lnTo>
                    <a:pt x="5029200" y="0"/>
                  </a:lnTo>
                </a:path>
              </a:pathLst>
            </a:custGeom>
            <a:noFill/>
            <a:ln w="9525">
              <a:solidFill>
                <a:srgbClr val="E1E7ED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81038" y="3213100"/>
              <a:ext cx="1676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4E7C"/>
                  </a:solidFill>
                  <a:latin typeface="+mj-lt"/>
                  <a:ea typeface="+mj-ea"/>
                  <a:cs typeface="+mj-cs"/>
                </a:rPr>
                <a:t>02</a:t>
              </a:r>
              <a:endParaRPr lang="zh-CN" sz="1200" dirty="0">
                <a:solidFill>
                  <a:srgbClr val="1D4E7C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21461" y="3136900"/>
              <a:ext cx="121920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没有全局时钟</a:t>
              </a:r>
              <a:endParaRPr lang="zh-CN" sz="1600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23747" y="3448050"/>
              <a:ext cx="21336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7B"/>
                  </a:solidFill>
                  <a:latin typeface="+mn-lt"/>
                  <a:ea typeface="+mn-ea"/>
                  <a:cs typeface="+mn-cs"/>
                </a:rPr>
                <a:t>两台机器的先后顺序说不清楚。</a:t>
              </a:r>
              <a:endParaRPr lang="zh-CN" sz="1200" dirty="0">
                <a:solidFill>
                  <a:srgbClr val="5A6B7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Line 14"/>
            <p:cNvSpPr/>
            <p:nvPr/>
          </p:nvSpPr>
          <p:spPr>
            <a:xfrm>
              <a:off x="685800" y="3733800"/>
              <a:ext cx="5029200" cy="9525"/>
            </a:xfrm>
            <a:custGeom>
              <a:avLst/>
              <a:gdLst/>
              <a:ahLst/>
              <a:cxnLst/>
              <a:rect l="l" t="t" r="r" b="b"/>
              <a:pathLst>
                <a:path w="5029200" h="9525">
                  <a:moveTo>
                    <a:pt x="0" y="0"/>
                  </a:moveTo>
                  <a:lnTo>
                    <a:pt x="5029200" y="0"/>
                  </a:lnTo>
                </a:path>
              </a:pathLst>
            </a:custGeom>
            <a:noFill/>
            <a:ln w="9525">
              <a:solidFill>
                <a:srgbClr val="E1E7ED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81038" y="4070350"/>
              <a:ext cx="1676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4E7C"/>
                  </a:solidFill>
                  <a:latin typeface="+mj-lt"/>
                  <a:ea typeface="+mj-ea"/>
                  <a:cs typeface="+mj-cs"/>
                </a:rPr>
                <a:t>03</a:t>
              </a:r>
              <a:endParaRPr lang="zh-CN" sz="1200" dirty="0">
                <a:solidFill>
                  <a:srgbClr val="1D4E7C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21461" y="3994150"/>
              <a:ext cx="162560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消息会延迟、会丢</a:t>
              </a:r>
              <a:endParaRPr lang="zh-CN" sz="1600" b="1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23747" y="4305300"/>
              <a:ext cx="18288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7B"/>
                  </a:solidFill>
                  <a:latin typeface="+mn-lt"/>
                  <a:ea typeface="+mn-ea"/>
                  <a:cs typeface="+mn-cs"/>
                </a:rPr>
                <a:t>只能靠请求和应答来确认。</a:t>
              </a:r>
              <a:endParaRPr lang="zh-CN" sz="1200" dirty="0">
                <a:solidFill>
                  <a:srgbClr val="5A6B7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Line 18"/>
            <p:cNvSpPr/>
            <p:nvPr/>
          </p:nvSpPr>
          <p:spPr>
            <a:xfrm>
              <a:off x="685800" y="4591050"/>
              <a:ext cx="5029200" cy="9525"/>
            </a:xfrm>
            <a:custGeom>
              <a:avLst/>
              <a:gdLst/>
              <a:ahLst/>
              <a:cxnLst/>
              <a:rect l="l" t="t" r="r" b="b"/>
              <a:pathLst>
                <a:path w="5029200" h="9525">
                  <a:moveTo>
                    <a:pt x="0" y="0"/>
                  </a:moveTo>
                  <a:lnTo>
                    <a:pt x="5029200" y="0"/>
                  </a:lnTo>
                </a:path>
              </a:pathLst>
            </a:custGeom>
            <a:noFill/>
            <a:ln w="9525">
              <a:solidFill>
                <a:srgbClr val="E1E7ED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80847" y="4876800"/>
              <a:ext cx="33528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A8B9B"/>
                  </a:solidFill>
                  <a:latin typeface="+mn-lt"/>
                  <a:ea typeface="+mn-ea"/>
                  <a:cs typeface="+mn-cs"/>
                </a:rPr>
                <a:t>课件里提到的三个算法，要解决的问题是一样的。</a:t>
              </a:r>
              <a:endParaRPr lang="zh-CN" sz="1200" dirty="0">
                <a:solidFill>
                  <a:srgbClr val="7A8B9B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7" name="algorithms"/>
          <p:cNvGrpSpPr/>
          <p:nvPr/>
        </p:nvGrpSpPr>
        <p:grpSpPr>
          <a:xfrm>
            <a:off x="6091238" y="1917700"/>
            <a:ext cx="5414962" cy="3473450"/>
            <a:chOff x="6091238" y="1917700"/>
            <a:chExt cx="5414962" cy="3473450"/>
          </a:xfrm>
        </p:grpSpPr>
        <p:sp>
          <p:nvSpPr>
            <p:cNvPr id="21" name="TextBox 21"/>
            <p:cNvSpPr txBox="1"/>
            <p:nvPr/>
          </p:nvSpPr>
          <p:spPr>
            <a:xfrm>
              <a:off x="6091238" y="1917700"/>
              <a:ext cx="15240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90" dirty="0">
                  <a:solidFill>
                    <a:srgbClr val="8A9BAB"/>
                  </a:solidFill>
                  <a:latin typeface="+mj-lt"/>
                  <a:ea typeface="+mj-ea"/>
                  <a:cs typeface="+mj-cs"/>
                </a:rPr>
                <a:t>THREE ALGORITHMS</a:t>
              </a:r>
              <a:endParaRPr lang="en-US" sz="1200" spc="90" dirty="0">
                <a:solidFill>
                  <a:srgbClr val="8A9BAB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096000" y="2152650"/>
              <a:ext cx="5410200" cy="990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E4EC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96000" y="2152650"/>
              <a:ext cx="57150" cy="990600"/>
            </a:xfrm>
            <a:prstGeom prst="rect">
              <a:avLst/>
            </a:prstGeom>
            <a:solidFill>
              <a:srgbClr val="1D4E7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57747" y="2343150"/>
              <a:ext cx="5867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D4E7C"/>
                  </a:solidFill>
                  <a:latin typeface="+mj-lt"/>
                  <a:ea typeface="+mj-ea"/>
                  <a:cs typeface="+mj-cs"/>
                </a:rPr>
                <a:t>LAMPORT</a:t>
              </a:r>
              <a:endParaRPr lang="en-US" sz="1200" dirty="0">
                <a:solidFill>
                  <a:srgbClr val="1D4E7C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56985" y="2584450"/>
              <a:ext cx="3378200" cy="215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用逻辑时钟给事件编号，按编号决定先后。</a:t>
              </a:r>
              <a:endParaRPr lang="zh-CN" sz="1400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57938" y="2838450"/>
              <a:ext cx="21336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A8B9B"/>
                  </a:solidFill>
                  <a:latin typeface="+mn-lt"/>
                  <a:ea typeface="+mn-ea"/>
                  <a:cs typeface="+mn-cs"/>
                </a:rPr>
                <a:t>把时间换成一个递增的计数器。</a:t>
              </a:r>
              <a:endParaRPr lang="zh-CN" sz="1200" dirty="0">
                <a:solidFill>
                  <a:srgbClr val="7A8B9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096000" y="3276600"/>
              <a:ext cx="5410200" cy="990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E4EC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096000" y="3276600"/>
              <a:ext cx="57150" cy="990600"/>
            </a:xfrm>
            <a:prstGeom prst="rect">
              <a:avLst/>
            </a:prstGeom>
            <a:solidFill>
              <a:srgbClr val="5A6B7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57747" y="3467100"/>
              <a:ext cx="12573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A6B7B"/>
                  </a:solidFill>
                  <a:latin typeface="+mj-lt"/>
                  <a:ea typeface="+mj-ea"/>
                  <a:cs typeface="+mj-cs"/>
                </a:rPr>
                <a:t>RICART-AGRAWALA</a:t>
              </a:r>
              <a:endParaRPr lang="en-US" sz="1200" dirty="0">
                <a:solidFill>
                  <a:srgbClr val="5A6B7B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56985" y="3708400"/>
              <a:ext cx="3556000" cy="215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向其他节点都发请求，收到全部应答才进入。</a:t>
              </a:r>
              <a:endParaRPr lang="zh-CN" sz="1400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57938" y="3962400"/>
              <a:ext cx="167449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A8B9B"/>
                  </a:solidFill>
                  <a:latin typeface="+mn-lt"/>
                  <a:ea typeface="+mn-ea"/>
                  <a:cs typeface="+mn-cs"/>
                </a:rPr>
                <a:t>代价是 2(N−1) 条消息。</a:t>
              </a:r>
              <a:endParaRPr lang="zh-CN" sz="1200" dirty="0">
                <a:solidFill>
                  <a:srgbClr val="7A8B9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096000" y="4400550"/>
              <a:ext cx="5410200" cy="990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E4EC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096000" y="4400550"/>
              <a:ext cx="57150" cy="990600"/>
            </a:xfrm>
            <a:prstGeom prst="rect">
              <a:avLst/>
            </a:prstGeom>
            <a:solidFill>
              <a:srgbClr val="C9A22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57747" y="4591050"/>
              <a:ext cx="5867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8A6D12"/>
                  </a:solidFill>
                  <a:latin typeface="+mj-lt"/>
                  <a:ea typeface="+mj-ea"/>
                  <a:cs typeface="+mj-cs"/>
                </a:rPr>
                <a:t>MAEKAWA</a:t>
              </a:r>
              <a:endParaRPr lang="en-US" sz="1200" dirty="0">
                <a:solidFill>
                  <a:srgbClr val="8A6D1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56985" y="4832350"/>
              <a:ext cx="2917190" cy="215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只向根号 N 个节点请求，消息更少。</a:t>
              </a:r>
              <a:endParaRPr lang="zh-CN" sz="1400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57938" y="5086350"/>
              <a:ext cx="142049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A8B9B"/>
                  </a:solidFill>
                  <a:latin typeface="+mn-lt"/>
                  <a:ea typeface="+mn-ea"/>
                  <a:cs typeface="+mn-cs"/>
                </a:rPr>
                <a:t>Square-Root 算法。</a:t>
              </a:r>
              <a:endParaRPr lang="zh-CN" sz="1200" dirty="0">
                <a:solidFill>
                  <a:srgbClr val="7A8B9B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9" name="turn"/>
          <p:cNvGrpSpPr/>
          <p:nvPr/>
        </p:nvGrpSpPr>
        <p:grpSpPr>
          <a:xfrm>
            <a:off x="679323" y="5753100"/>
            <a:ext cx="3911600" cy="215265"/>
            <a:chOff x="679323" y="5753100"/>
            <a:chExt cx="3911600" cy="215265"/>
          </a:xfrm>
        </p:grpSpPr>
        <p:sp>
          <p:nvSpPr>
            <p:cNvPr id="38" name="TextBox 38"/>
            <p:cNvSpPr txBox="1"/>
            <p:nvPr/>
          </p:nvSpPr>
          <p:spPr>
            <a:xfrm>
              <a:off x="679323" y="5753100"/>
              <a:ext cx="3911600" cy="215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16202B"/>
                  </a:solidFill>
                  <a:latin typeface="+mn-lt"/>
                  <a:ea typeface="+mn-ea"/>
                  <a:cs typeface="+mn-cs"/>
                </a:rPr>
                <a:t>没有共享内存的时候，只能靠消息和时钟来排队。</a:t>
              </a:r>
              <a:endParaRPr lang="zh-CN" sz="1400" dirty="0">
                <a:solidFill>
                  <a:srgbClr val="16202B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681038" y="6400800"/>
            <a:ext cx="10829924" cy="184150"/>
            <a:chOff x="681038" y="6400800"/>
            <a:chExt cx="10829924" cy="184150"/>
          </a:xfrm>
        </p:grpSpPr>
        <p:sp>
          <p:nvSpPr>
            <p:cNvPr id="40" name="TextBox 40"/>
            <p:cNvSpPr txBox="1"/>
            <p:nvPr/>
          </p:nvSpPr>
          <p:spPr>
            <a:xfrm>
              <a:off x="681038" y="6400800"/>
              <a:ext cx="187579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A8B9B"/>
                  </a:solidFill>
                  <a:latin typeface="+mn-lt"/>
                  <a:ea typeface="+mn-ea"/>
                  <a:cs typeface="+mn-cs"/>
                </a:rPr>
                <a:t>第 4 章 进程同步 · 课堂回顾</a:t>
              </a:r>
              <a:endParaRPr lang="zh-CN" sz="1200" dirty="0">
                <a:solidFill>
                  <a:srgbClr val="7A8B9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997247" y="6400800"/>
              <a:ext cx="51371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A8B9B"/>
                  </a:solidFill>
                  <a:latin typeface="+mn-lt"/>
                  <a:ea typeface="+mn-ea"/>
                  <a:cs typeface="+mn-cs"/>
                </a:rPr>
                <a:t>13 / 1</a:t>
              </a:r>
              <a:r>
                <a:rPr lang="en-US" altLang="zh-CN" sz="1200" dirty="0">
                  <a:solidFill>
                    <a:srgbClr val="7A8B9B"/>
                  </a:solidFill>
                  <a:latin typeface="+mn-lt"/>
                  <a:ea typeface="+mn-ea"/>
                  <a:cs typeface="+mn-cs"/>
                </a:rPr>
                <a:t>4</a:t>
              </a:r>
              <a:endParaRPr lang="en-US" altLang="zh-CN" sz="1200" dirty="0">
                <a:solidFill>
                  <a:srgbClr val="7A8B9B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334E"/>
            </a:gs>
            <a:gs pos="100000">
              <a:srgbClr val="0A1724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statement"/>
          <p:cNvGrpSpPr/>
          <p:nvPr/>
        </p:nvGrpSpPr>
        <p:grpSpPr>
          <a:xfrm>
            <a:off x="679450" y="1044575"/>
            <a:ext cx="9499600" cy="1494155"/>
            <a:chOff x="670560" y="1818640"/>
            <a:chExt cx="9499600" cy="1494155"/>
          </a:xfrm>
        </p:grpSpPr>
        <p:sp>
          <p:nvSpPr>
            <p:cNvPr id="2" name="TextBox 2"/>
            <p:cNvSpPr txBox="1"/>
            <p:nvPr/>
          </p:nvSpPr>
          <p:spPr>
            <a:xfrm>
              <a:off x="670687" y="1818640"/>
              <a:ext cx="30861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150" dirty="0">
                  <a:solidFill>
                    <a:srgbClr val="7FA6C9"/>
                  </a:solidFill>
                  <a:latin typeface="+mj-lt"/>
                  <a:ea typeface="+mj-ea"/>
                  <a:cs typeface="+mj-cs"/>
                </a:rPr>
                <a:t>CH.4 / PROCESS SYNCHRONIZATION</a:t>
              </a:r>
              <a:endParaRPr lang="en-US" sz="1200" spc="150" dirty="0">
                <a:solidFill>
                  <a:srgbClr val="7FA6C9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0560" y="2187575"/>
              <a:ext cx="9499600" cy="99758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4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并发执行时，共享资源的访问要有顺序</a:t>
              </a:r>
              <a:endParaRPr lang="zh-CN" sz="4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9323" y="3067050"/>
              <a:ext cx="426720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dirty="0">
                  <a:solidFill>
                    <a:srgbClr val="9FB4C7"/>
                  </a:solidFill>
                  <a:latin typeface="+mn-lt"/>
                  <a:ea typeface="+mn-ea"/>
                  <a:cs typeface="+mn-cs"/>
                </a:rPr>
                <a:t>从临界区、信号量到管程，都是围绕这一件事。</a:t>
              </a:r>
              <a:endParaRPr lang="zh-CN" sz="1600" dirty="0">
                <a:solidFill>
                  <a:srgbClr val="9FB4C7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" name="closing-rule"/>
          <p:cNvGrpSpPr/>
          <p:nvPr/>
        </p:nvGrpSpPr>
        <p:grpSpPr>
          <a:xfrm>
            <a:off x="689610" y="3121025"/>
            <a:ext cx="10727690" cy="76200"/>
            <a:chOff x="685800" y="3505200"/>
            <a:chExt cx="2667000" cy="38100"/>
          </a:xfrm>
        </p:grpSpPr>
        <p:sp>
          <p:nvSpPr>
            <p:cNvPr id="6" name="Rectangle 6"/>
            <p:cNvSpPr/>
            <p:nvPr/>
          </p:nvSpPr>
          <p:spPr>
            <a:xfrm>
              <a:off x="685800" y="3505200"/>
              <a:ext cx="2667000" cy="38100"/>
            </a:xfrm>
            <a:prstGeom prst="rect">
              <a:avLst/>
            </a:prstGeom>
            <a:solidFill>
              <a:srgbClr val="C9A227"/>
            </a:solidFill>
            <a:ln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5" name="closing-foot"/>
          <p:cNvGrpSpPr/>
          <p:nvPr/>
        </p:nvGrpSpPr>
        <p:grpSpPr>
          <a:xfrm>
            <a:off x="3527044" y="3908425"/>
            <a:ext cx="7983918" cy="2517775"/>
            <a:chOff x="3527044" y="3908425"/>
            <a:chExt cx="7983918" cy="2517775"/>
          </a:xfrm>
        </p:grpSpPr>
        <p:sp>
          <p:nvSpPr>
            <p:cNvPr id="23" name="TextBox 23"/>
            <p:cNvSpPr txBox="1"/>
            <p:nvPr/>
          </p:nvSpPr>
          <p:spPr>
            <a:xfrm>
              <a:off x="3527044" y="3908425"/>
              <a:ext cx="3804920" cy="7105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600" b="1" dirty="0">
                  <a:solidFill>
                    <a:srgbClr val="C9D6E3"/>
                  </a:solidFill>
                  <a:latin typeface="+mn-lt"/>
                  <a:ea typeface="+mn-ea"/>
                  <a:cs typeface="+mn-cs"/>
                </a:rPr>
                <a:t>谢谢</a:t>
              </a:r>
              <a:r>
                <a:rPr lang="zh-CN" sz="3600" b="1" dirty="0">
                  <a:solidFill>
                    <a:srgbClr val="C9D6E3"/>
                  </a:solidFill>
                  <a:latin typeface="+mn-lt"/>
                  <a:ea typeface="+mn-ea"/>
                  <a:cs typeface="+mn-cs"/>
                </a:rPr>
                <a:t>大家，感谢倾听！</a:t>
              </a:r>
              <a:endParaRPr lang="zh-CN" sz="3600" b="1" dirty="0">
                <a:solidFill>
                  <a:srgbClr val="C9D6E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164002" y="6242050"/>
              <a:ext cx="234696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F8AA3"/>
                  </a:solidFill>
                  <a:latin typeface="+mj-lt"/>
                  <a:ea typeface="+mj-ea"/>
                  <a:cs typeface="+mj-cs"/>
                </a:rPr>
                <a:t>MODULE 3 / CH.4 · 2026-10-21</a:t>
              </a:r>
              <a:endParaRPr lang="en-US" sz="1200" dirty="0">
                <a:solidFill>
                  <a:srgbClr val="6F8AA3"/>
                </a:solidFill>
                <a:latin typeface="+mj-lt"/>
                <a:ea typeface="+mj-ea"/>
                <a:cs typeface="+mj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136.30005052844726,&quot;left&quot;:54,&quot;top&quot;:225,&quot;width&quot;:840}"/>
</p:tagLst>
</file>

<file path=ppt/tags/tag2.xml><?xml version="1.0" encoding="utf-8"?>
<p:tagLst xmlns:p="http://schemas.openxmlformats.org/presentationml/2006/main">
  <p:tag name="KSO_WM_DIAGRAM_VIRTUALLY_FRAME" val="{&quot;height&quot;:136.30005052844726,&quot;left&quot;:54,&quot;top&quot;:225,&quot;width&quot;:840}"/>
</p:tagLst>
</file>

<file path=ppt/tags/tag3.xml><?xml version="1.0" encoding="utf-8"?>
<p:tagLst xmlns:p="http://schemas.openxmlformats.org/presentationml/2006/main">
  <p:tag name="KSO_WM_DIAGRAM_VIRTUALLY_FRAME" val="{&quot;height&quot;:136.30005052844726,&quot;left&quot;:54,&quot;top&quot;:225,&quot;width&quot;:840}"/>
</p:tagLst>
</file>

<file path=ppt/tags/tag4.xml><?xml version="1.0" encoding="utf-8"?>
<p:tagLst xmlns:p="http://schemas.openxmlformats.org/presentationml/2006/main">
  <p:tag name="KSO_WM_DIAGRAM_VIRTUALLY_FRAME" val="{&quot;height&quot;:136.30005052844726,&quot;left&quot;:54,&quot;top&quot;:225,&quot;width&quot;:840}"/>
</p:tagLst>
</file>

<file path=ppt/tags/tag5.xml><?xml version="1.0" encoding="utf-8"?>
<p:tagLst xmlns:p="http://schemas.openxmlformats.org/presentationml/2006/main">
  <p:tag name="KSO_WM_DIAGRAM_VIRTUALLY_FRAME" val="{&quot;height&quot;:136.30005052844726,&quot;left&quot;:54,&quot;top&quot;:225,&quot;width&quot;:840}"/>
</p:tagLst>
</file>

<file path=ppt/tags/tag6.xml><?xml version="1.0" encoding="utf-8"?>
<p:tagLst xmlns:p="http://schemas.openxmlformats.org/presentationml/2006/main">
  <p:tag name="KSO_WM_DIAGRAM_VIRTUALLY_FRAME" val="{&quot;height&quot;:136.30005052844726,&quot;left&quot;:54,&quot;top&quot;:225,&quot;width&quot;:840}"/>
</p:tagLst>
</file>

<file path=ppt/tags/tag7.xml><?xml version="1.0" encoding="utf-8"?>
<p:tagLst xmlns:p="http://schemas.openxmlformats.org/presentationml/2006/main">
  <p:tag name="KSO_WM_DIAGRAM_VIRTUALLY_FRAME" val="{&quot;height&quot;:136.30005052844726,&quot;left&quot;:54,&quot;top&quot;:225,&quot;width&quot;:840}"/>
</p:tagLst>
</file>

<file path=ppt/tags/tag8.xml><?xml version="1.0" encoding="utf-8"?>
<p:tagLst xmlns:p="http://schemas.openxmlformats.org/presentationml/2006/main">
  <p:tag name="KSO_WM_DIAGRAM_VIRTUALLY_FRAME" val="{&quot;height&quot;:136.30005052844726,&quot;left&quot;:54,&quot;top&quot;:225,&quot;width&quot;:840}"/>
</p:tagLst>
</file>

<file path=ppt/tags/tag9.xml><?xml version="1.0" encoding="utf-8"?>
<p:tagLst xmlns:p="http://schemas.openxmlformats.org/presentationml/2006/main">
  <p:tag name="KSO_WM_DIAGRAM_VIRTUALLY_FRAME" val="{&quot;height&quot;:136.30005052844726,&quot;left&quot;:54,&quot;top&quot;:225,&quot;width&quot;:840}"/>
</p:tagLst>
</file>

<file path=ppt/tags/tag10.xml><?xml version="1.0" encoding="utf-8"?>
<p:tagLst xmlns:p="http://schemas.openxmlformats.org/presentationml/2006/main">
  <p:tag name="KSO_WM_DIAGRAM_VIRTUALLY_FRAME" val="{&quot;height&quot;:136.30005052844726,&quot;left&quot;:54,&quot;top&quot;:225,&quot;width&quot;:840}"/>
</p:tagLst>
</file>

<file path=ppt/tags/tag11.xml><?xml version="1.0" encoding="utf-8"?>
<p:tagLst xmlns:p="http://schemas.openxmlformats.org/presentationml/2006/main">
  <p:tag name="KSO_WM_DIAGRAM_VIRTUALLY_FRAME" val="{&quot;height&quot;:136.30005052844726,&quot;left&quot;:54,&quot;top&quot;:225,&quot;width&quot;:840}"/>
</p:tagLst>
</file>

<file path=ppt/tags/tag12.xml><?xml version="1.0" encoding="utf-8"?>
<p:tagLst xmlns:p="http://schemas.openxmlformats.org/presentationml/2006/main">
  <p:tag name="KSO_WM_DIAGRAM_VIRTUALLY_FRAME" val="{&quot;height&quot;:136.30005052844726,&quot;left&quot;:54,&quot;top&quot;:225,&quot;width&quot;:840}"/>
</p:tagLst>
</file>

<file path=ppt/tags/tag13.xml><?xml version="1.0" encoding="utf-8"?>
<p:tagLst xmlns:p="http://schemas.openxmlformats.org/presentationml/2006/main">
  <p:tag name="KSO_WM_DIAGRAM_VIRTUALLY_FRAME" val="{&quot;height&quot;:136.30005052844726,&quot;left&quot;:54,&quot;top&quot;:225,&quot;width&quot;:840}"/>
</p:tagLst>
</file>

<file path=ppt/tags/tag14.xml><?xml version="1.0" encoding="utf-8"?>
<p:tagLst xmlns:p="http://schemas.openxmlformats.org/presentationml/2006/main">
  <p:tag name="KSO_WM_DIAGRAM_VIRTUALLY_FRAME" val="{&quot;height&quot;:136.30005052844726,&quot;left&quot;:54,&quot;top&quot;:225,&quot;width&quot;:840}"/>
</p:tagLst>
</file>

<file path=ppt/tags/tag15.xml><?xml version="1.0" encoding="utf-8"?>
<p:tagLst xmlns:p="http://schemas.openxmlformats.org/presentationml/2006/main">
  <p:tag name="KSO_WM_DIAGRAM_VIRTUALLY_FRAME" val="{&quot;height&quot;:136.30005052844726,&quot;left&quot;:54,&quot;top&quot;:225,&quot;width&quot;:840}"/>
</p:tagLst>
</file>

<file path=ppt/tags/tag16.xml><?xml version="1.0" encoding="utf-8"?>
<p:tagLst xmlns:p="http://schemas.openxmlformats.org/presentationml/2006/main">
  <p:tag name="KSO_WM_DIAGRAM_VIRTUALLY_FRAME" val="{&quot;height&quot;:136.30005052844726,&quot;left&quot;:54,&quot;top&quot;:225,&quot;width&quot;:840}"/>
</p:tagLst>
</file>

<file path=ppt/tags/tag17.xml><?xml version="1.0" encoding="utf-8"?>
<p:tagLst xmlns:p="http://schemas.openxmlformats.org/presentationml/2006/main">
  <p:tag name="KSO_WM_DIAGRAM_VIRTUALLY_FRAME" val="{&quot;height&quot;:136.30005052844726,&quot;left&quot;:54,&quot;top&quot;:225,&quot;width&quot;:840}"/>
</p:tagLst>
</file>

<file path=ppt/tags/tag18.xml><?xml version="1.0" encoding="utf-8"?>
<p:tagLst xmlns:p="http://schemas.openxmlformats.org/presentationml/2006/main">
  <p:tag name="KSO_WM_DIAGRAM_VIRTUALLY_FRAME" val="{&quot;height&quot;:136.30005052844726,&quot;left&quot;:54,&quot;top&quot;:225,&quot;width&quot;:840}"/>
</p:tagLst>
</file>

<file path=ppt/tags/tag19.xml><?xml version="1.0" encoding="utf-8"?>
<p:tagLst xmlns:p="http://schemas.openxmlformats.org/presentationml/2006/main">
  <p:tag name="KSO_WM_DIAGRAM_VIRTUALLY_FRAME" val="{&quot;height&quot;:136.30005052844726,&quot;left&quot;:54,&quot;top&quot;:225,&quot;width&quot;:840}"/>
</p:tagLst>
</file>

<file path=ppt/tags/tag20.xml><?xml version="1.0" encoding="utf-8"?>
<p:tagLst xmlns:p="http://schemas.openxmlformats.org/presentationml/2006/main">
  <p:tag name="KSO_WM_DIAGRAM_VIRTUALLY_FRAME" val="{&quot;height&quot;:136.30005052844726,&quot;left&quot;:54,&quot;top&quot;:225,&quot;width&quot;:840}"/>
</p:tagLst>
</file>

<file path=ppt/tags/tag21.xml><?xml version="1.0" encoding="utf-8"?>
<p:tagLst xmlns:p="http://schemas.openxmlformats.org/presentationml/2006/main">
  <p:tag name="KSO_WM_DIAGRAM_VIRTUALLY_FRAME" val="{&quot;height&quot;:136.30005052844726,&quot;left&quot;:54,&quot;top&quot;:225,&quot;width&quot;:840}"/>
</p:tagLst>
</file>

<file path=ppt/tags/tag22.xml><?xml version="1.0" encoding="utf-8"?>
<p:tagLst xmlns:p="http://schemas.openxmlformats.org/presentationml/2006/main">
  <p:tag name="KSO_WM_DIAGRAM_VIRTUALLY_FRAME" val="{&quot;height&quot;:136.30005052844726,&quot;left&quot;:54,&quot;top&quot;:225,&quot;width&quot;:840}"/>
</p:tagLst>
</file>

<file path=ppt/tags/tag23.xml><?xml version="1.0" encoding="utf-8"?>
<p:tagLst xmlns:p="http://schemas.openxmlformats.org/presentationml/2006/main">
  <p:tag name="KSO_WM_DIAGRAM_VIRTUALLY_FRAME" val="{&quot;height&quot;:136.30005052844726,&quot;left&quot;:54,&quot;top&quot;:225,&quot;width&quot;:840}"/>
</p:tagLst>
</file>

<file path=ppt/tags/tag24.xml><?xml version="1.0" encoding="utf-8"?>
<p:tagLst xmlns:p="http://schemas.openxmlformats.org/presentationml/2006/main">
  <p:tag name="KSO_WM_DIAGRAM_VIRTUALLY_FRAME" val="{&quot;height&quot;:136.30005052844726,&quot;left&quot;:54,&quot;top&quot;:225,&quot;width&quot;:840}"/>
</p:tagLst>
</file>

<file path=ppt/tags/tag25.xml><?xml version="1.0" encoding="utf-8"?>
<p:tagLst xmlns:p="http://schemas.openxmlformats.org/presentationml/2006/main">
  <p:tag name="KSO_WM_DIAGRAM_VIRTUALLY_FRAME" val="{&quot;height&quot;:136.30005052844726,&quot;left&quot;:54,&quot;top&quot;:225,&quot;width&quot;:840}"/>
</p:tagLst>
</file>

<file path=ppt/theme/theme1.xml><?xml version="1.0" encoding="utf-8"?>
<a:theme xmlns:a="http://schemas.openxmlformats.org/drawingml/2006/main" name="os-ch4-sync-review">
  <a:themeElements>
    <a:clrScheme name="os-ch4-sync-review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s-ch4-sync-review">
      <a:majorFont>
        <a:latin typeface="Consolas"/>
        <a:ea typeface="Microsoft YaHei"/>
        <a:cs typeface="Consola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s-ch4-sync-re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s-ch4-sync-review">
  <a:themeElements>
    <a:clrScheme name="os-ch4-sync-review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s-ch4-sync-review">
      <a:majorFont>
        <a:latin typeface="Consolas"/>
        <a:ea typeface="Microsoft YaHei"/>
        <a:cs typeface="Consola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s-ch4-sync-re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4216</Words>
  <Application>WPS 演示</Application>
  <PresentationFormat>On-screen Show (16:9)</PresentationFormat>
  <Paragraphs>705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Arial</vt:lpstr>
      <vt:lpstr>微软雅黑</vt:lpstr>
      <vt:lpstr>Consolas</vt:lpstr>
      <vt:lpstr>Arial Unicode MS</vt:lpstr>
      <vt:lpstr>os-ch4-sync-review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我减我自己ISM</cp:lastModifiedBy>
  <cp:revision>3</cp:revision>
  <dcterms:created xsi:type="dcterms:W3CDTF">2026-10-20T07:34:00Z</dcterms:created>
  <dcterms:modified xsi:type="dcterms:W3CDTF">2026-10-20T08:52:54Z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5B1E6DAFD9E145D08C979D07E025ADDD_12</vt:lpwstr>
  </property>
  <property fmtid="{D5CDD505-2E9C-101B-9397-08002B2CF9AE}" pid="3" name="KSOProductBuildVer">
    <vt:lpwstr>2052-12.1.0.23125</vt:lpwstr>
  </property>
</Properties>
</file>